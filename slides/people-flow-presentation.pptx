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D680DDCD-A245-49A2-997D-6646EE51F4AC}"/>
              </a:ext>
            </a:extLst>
          </p:cNvPr>
          <p:cNvSpPr>
            <a:spLocks noGrp="1"/>
          </p:cNvSpPr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rgbClr val="061018"/>
          </a:solidFill>
          <a:ln w="0">
            <a:solidFill>
              <a:srgbClr val="0610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65AB40-A66D-4875-8898-C32FD19ABD86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8D9711-B02D-49F7-A88E-28608F01F98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7C8188-CE9F-4077-82B0-F07EC70A5A02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40901F-7DFC-431C-BA43-80B241EABCDE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C18844-16CC-4906-B7C0-4FC2C0A99734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2E6028-4B36-4D76-AF23-0A632E095771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6F90132-CE0A-46C6-BDA3-A13134F680A0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E246C7-3E8B-413D-946D-A75B505F2059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C8F417B-717B-4EDE-88D0-65BE1D4B1020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F9981F-ABF2-4604-8B2B-37B42ADF5529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18A7E2-D2AA-470A-9977-ECAE9ACDFB5A}"/>
              </a:ext>
            </a:extLst>
          </p:cNvPr>
          <p:cNvSpPr>
            <a:spLocks noGrp="1"/>
          </p:cNvSpPr>
          <p:nvPr/>
        </p:nvSpPr>
        <p:spPr>
          <a:xfrm>
            <a:off x="552450" y="5048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COMPUTER VISION TEAM PROJECT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9877256-6DE3-4AA0-9237-D78328FE89F6}"/>
              </a:ext>
            </a:extLst>
          </p:cNvPr>
          <p:cNvSpPr>
            <a:spLocks noGrp="1"/>
          </p:cNvSpPr>
          <p:nvPr/>
        </p:nvSpPr>
        <p:spPr>
          <a:xfrm>
            <a:off x="695325" y="813707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91AFC0"/>
                </a:solidFill>
              </a:defRPr>
            </a:pPr>
            <a:r>
              <a:rPr sz="1200" b="1">
                <a:solidFill>
                  <a:srgbClr val="91AFC0"/>
                </a:solidFill>
              </a:rPr>
              <a:t>TOPIC #14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4444E6-0409-492D-AFC8-37EE9351B502}"/>
              </a:ext>
            </a:extLst>
          </p:cNvPr>
          <p:cNvSpPr>
            <a:spLocks noGrp="1"/>
          </p:cNvSpPr>
          <p:nvPr/>
        </p:nvSpPr>
        <p:spPr>
          <a:xfrm>
            <a:off x="904875" y="2004332"/>
            <a:ext cx="5334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575" b="1">
                <a:solidFill>
                  <a:srgbClr val="F1FBFF"/>
                </a:solidFill>
              </a:defRPr>
            </a:pPr>
            <a:r>
              <a:rPr sz="4575" b="1">
                <a:solidFill>
                  <a:srgbClr val="F1FBFF"/>
                </a:solidFill>
              </a:rPr>
              <a:t>People Counting &amp;</a:t>
            </a:r>
          </a:p>
          <a:p>
            <a:pPr algn="l">
              <a:buNone/>
              <a:defRPr sz="4575" b="1">
                <a:solidFill>
                  <a:srgbClr val="F1FBFF"/>
                </a:solidFill>
              </a:defRPr>
            </a:pPr>
            <a:r>
              <a:rPr sz="4575" b="1">
                <a:solidFill>
                  <a:srgbClr val="F1FBFF"/>
                </a:solidFill>
              </a:rPr>
              <a:t>Flow Direction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C125980-B933-414D-B604-AC2CBAA6063C}"/>
              </a:ext>
            </a:extLst>
          </p:cNvPr>
          <p:cNvSpPr>
            <a:spLocks noGrp="1"/>
          </p:cNvSpPr>
          <p:nvPr/>
        </p:nvSpPr>
        <p:spPr>
          <a:xfrm>
            <a:off x="846364" y="3585483"/>
            <a:ext cx="4857750" cy="838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91AFC0"/>
                </a:solidFill>
              </a:defRPr>
            </a:pPr>
            <a:r>
              <a:rPr sz="1725" b="0" dirty="0">
                <a:solidFill>
                  <a:srgbClr val="91AFC0"/>
                </a:solidFill>
              </a:rPr>
              <a:t>OpenCV pipeline for overhead camera people-flow analysis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F4CF2F-18A5-4DE3-8798-A802974FBFAC}"/>
              </a:ext>
            </a:extLst>
          </p:cNvPr>
          <p:cNvSpPr>
            <a:spLocks noGrp="1"/>
          </p:cNvSpPr>
          <p:nvPr/>
        </p:nvSpPr>
        <p:spPr>
          <a:xfrm>
            <a:off x="6515100" y="1314450"/>
            <a:ext cx="4476750" cy="4476750"/>
          </a:xfrm>
          <a:prstGeom prst="rect">
            <a:avLst/>
          </a:prstGeom>
          <a:solidFill>
            <a:srgbClr val="081722"/>
          </a:solidFill>
          <a:ln w="1905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845D89C-CA71-4A1B-A2D1-FF5812139A30}"/>
              </a:ext>
            </a:extLst>
          </p:cNvPr>
          <p:cNvSpPr>
            <a:spLocks noGrp="1"/>
          </p:cNvSpPr>
          <p:nvPr/>
        </p:nvSpPr>
        <p:spPr>
          <a:xfrm>
            <a:off x="6705600" y="1504950"/>
            <a:ext cx="552450" cy="28575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36C7C83-5A26-46B8-B98B-E61227BBDF07}"/>
              </a:ext>
            </a:extLst>
          </p:cNvPr>
          <p:cNvSpPr>
            <a:spLocks noGrp="1"/>
          </p:cNvSpPr>
          <p:nvPr/>
        </p:nvSpPr>
        <p:spPr>
          <a:xfrm>
            <a:off x="6705600" y="1504950"/>
            <a:ext cx="28575" cy="5524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3D7027-4B28-4583-BFF7-FCE1AAD1FDC0}"/>
              </a:ext>
            </a:extLst>
          </p:cNvPr>
          <p:cNvSpPr>
            <a:spLocks noGrp="1"/>
          </p:cNvSpPr>
          <p:nvPr/>
        </p:nvSpPr>
        <p:spPr>
          <a:xfrm>
            <a:off x="10248900" y="1504950"/>
            <a:ext cx="552450" cy="28575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9000BBE-6147-4D9E-92F2-B1EFECF1AF57}"/>
              </a:ext>
            </a:extLst>
          </p:cNvPr>
          <p:cNvSpPr>
            <a:spLocks noGrp="1"/>
          </p:cNvSpPr>
          <p:nvPr/>
        </p:nvSpPr>
        <p:spPr>
          <a:xfrm>
            <a:off x="10772775" y="1504950"/>
            <a:ext cx="28575" cy="5524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4899EFB-392C-4DED-A8B6-6B6CCDA9BCC8}"/>
              </a:ext>
            </a:extLst>
          </p:cNvPr>
          <p:cNvSpPr>
            <a:spLocks noGrp="1"/>
          </p:cNvSpPr>
          <p:nvPr/>
        </p:nvSpPr>
        <p:spPr>
          <a:xfrm>
            <a:off x="6705600" y="5029200"/>
            <a:ext cx="552450" cy="28575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2E8DD94-39F0-47D1-A4A1-8032C82DE478}"/>
              </a:ext>
            </a:extLst>
          </p:cNvPr>
          <p:cNvSpPr>
            <a:spLocks noGrp="1"/>
          </p:cNvSpPr>
          <p:nvPr/>
        </p:nvSpPr>
        <p:spPr>
          <a:xfrm>
            <a:off x="6705600" y="4505325"/>
            <a:ext cx="28575" cy="5524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91DC285-E774-46F4-ADBE-03D054B1ED4A}"/>
              </a:ext>
            </a:extLst>
          </p:cNvPr>
          <p:cNvSpPr>
            <a:spLocks noGrp="1"/>
          </p:cNvSpPr>
          <p:nvPr/>
        </p:nvSpPr>
        <p:spPr>
          <a:xfrm>
            <a:off x="10248900" y="5029200"/>
            <a:ext cx="552450" cy="28575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F2DFABA-8231-4639-8E7E-42CE50C906F1}"/>
              </a:ext>
            </a:extLst>
          </p:cNvPr>
          <p:cNvSpPr>
            <a:spLocks noGrp="1"/>
          </p:cNvSpPr>
          <p:nvPr/>
        </p:nvSpPr>
        <p:spPr>
          <a:xfrm>
            <a:off x="10772775" y="4505325"/>
            <a:ext cx="28575" cy="5524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065870F-AE7C-41F0-B92B-6A90EBC8D2A4}"/>
              </a:ext>
            </a:extLst>
          </p:cNvPr>
          <p:cNvSpPr>
            <a:spLocks noGrp="1"/>
          </p:cNvSpPr>
          <p:nvPr/>
        </p:nvSpPr>
        <p:spPr>
          <a:xfrm>
            <a:off x="651510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80A83D-7ED9-4F36-9DF2-21D90693AF38}"/>
              </a:ext>
            </a:extLst>
          </p:cNvPr>
          <p:cNvSpPr>
            <a:spLocks noGrp="1"/>
          </p:cNvSpPr>
          <p:nvPr/>
        </p:nvSpPr>
        <p:spPr>
          <a:xfrm>
            <a:off x="6515100" y="131445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1DB3220-6CD6-4873-B3B5-DF12185C116D}"/>
              </a:ext>
            </a:extLst>
          </p:cNvPr>
          <p:cNvSpPr>
            <a:spLocks noGrp="1"/>
          </p:cNvSpPr>
          <p:nvPr/>
        </p:nvSpPr>
        <p:spPr>
          <a:xfrm>
            <a:off x="741045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3F0C129-1AB4-4C6A-8AF4-ABA1B3D972F6}"/>
              </a:ext>
            </a:extLst>
          </p:cNvPr>
          <p:cNvSpPr>
            <a:spLocks noGrp="1"/>
          </p:cNvSpPr>
          <p:nvPr/>
        </p:nvSpPr>
        <p:spPr>
          <a:xfrm>
            <a:off x="6515100" y="220980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28CF4C-83E2-4AA9-8FF8-CE78497C7969}"/>
              </a:ext>
            </a:extLst>
          </p:cNvPr>
          <p:cNvSpPr>
            <a:spLocks noGrp="1"/>
          </p:cNvSpPr>
          <p:nvPr/>
        </p:nvSpPr>
        <p:spPr>
          <a:xfrm>
            <a:off x="830580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EC6961F-4022-4175-A29F-F3535E4AA2CB}"/>
              </a:ext>
            </a:extLst>
          </p:cNvPr>
          <p:cNvSpPr>
            <a:spLocks noGrp="1"/>
          </p:cNvSpPr>
          <p:nvPr/>
        </p:nvSpPr>
        <p:spPr>
          <a:xfrm>
            <a:off x="6515100" y="310515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2C46D05-BC2C-4CE8-B6EB-16527DBBD99A}"/>
              </a:ext>
            </a:extLst>
          </p:cNvPr>
          <p:cNvSpPr>
            <a:spLocks noGrp="1"/>
          </p:cNvSpPr>
          <p:nvPr/>
        </p:nvSpPr>
        <p:spPr>
          <a:xfrm>
            <a:off x="920115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43870F3-77B7-4607-8DC1-B385C2FFB887}"/>
              </a:ext>
            </a:extLst>
          </p:cNvPr>
          <p:cNvSpPr>
            <a:spLocks noGrp="1"/>
          </p:cNvSpPr>
          <p:nvPr/>
        </p:nvSpPr>
        <p:spPr>
          <a:xfrm>
            <a:off x="6515100" y="400050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46C1D41-3E23-4C68-AEC1-21A62CBE5C6F}"/>
              </a:ext>
            </a:extLst>
          </p:cNvPr>
          <p:cNvSpPr>
            <a:spLocks noGrp="1"/>
          </p:cNvSpPr>
          <p:nvPr/>
        </p:nvSpPr>
        <p:spPr>
          <a:xfrm>
            <a:off x="1009650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B4E8D5D-BBC4-4E80-901C-A502DD193F7F}"/>
              </a:ext>
            </a:extLst>
          </p:cNvPr>
          <p:cNvSpPr>
            <a:spLocks noGrp="1"/>
          </p:cNvSpPr>
          <p:nvPr/>
        </p:nvSpPr>
        <p:spPr>
          <a:xfrm>
            <a:off x="6515100" y="489585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E2282D3-C8CD-4CDF-8ACD-9020F4BF4527}"/>
              </a:ext>
            </a:extLst>
          </p:cNvPr>
          <p:cNvSpPr>
            <a:spLocks noGrp="1"/>
          </p:cNvSpPr>
          <p:nvPr/>
        </p:nvSpPr>
        <p:spPr>
          <a:xfrm>
            <a:off x="10991850" y="1314450"/>
            <a:ext cx="9525" cy="4476750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5E3D66B-4D75-44C9-9169-FAD84ED0EBBC}"/>
              </a:ext>
            </a:extLst>
          </p:cNvPr>
          <p:cNvSpPr>
            <a:spLocks noGrp="1"/>
          </p:cNvSpPr>
          <p:nvPr/>
        </p:nvSpPr>
        <p:spPr>
          <a:xfrm>
            <a:off x="6515100" y="5791200"/>
            <a:ext cx="4476750" cy="9525"/>
          </a:xfrm>
          <a:prstGeom prst="rect">
            <a:avLst/>
          </a:prstGeom>
          <a:solidFill>
            <a:srgbClr val="163241"/>
          </a:solidFill>
          <a:ln w="0">
            <a:solidFill>
              <a:srgbClr val="1632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DF521FD-CFEA-4C4C-B063-2C21DFD36F84}"/>
              </a:ext>
            </a:extLst>
          </p:cNvPr>
          <p:cNvSpPr>
            <a:spLocks noGrp="1"/>
          </p:cNvSpPr>
          <p:nvPr/>
        </p:nvSpPr>
        <p:spPr>
          <a:xfrm>
            <a:off x="7324725" y="261937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ECF2E8E6-361D-4780-8348-0E4F6145AB15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52C42C3-404D-42AF-96C9-5F496E814171}"/>
              </a:ext>
            </a:extLst>
          </p:cNvPr>
          <p:cNvSpPr>
            <a:spLocks noGrp="1"/>
          </p:cNvSpPr>
          <p:nvPr/>
        </p:nvSpPr>
        <p:spPr>
          <a:xfrm>
            <a:off x="7324725" y="31051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01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39ECB73-ED36-4D18-9ABC-85721B48D0DE}"/>
              </a:ext>
            </a:extLst>
          </p:cNvPr>
          <p:cNvSpPr>
            <a:spLocks noGrp="1"/>
          </p:cNvSpPr>
          <p:nvPr/>
        </p:nvSpPr>
        <p:spPr>
          <a:xfrm>
            <a:off x="8029575" y="220027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22482AF8-65F9-47EB-9EC4-60285BCB0A76}"/>
              </a:ext>
            </a:extLst>
          </p:cNvPr>
          <p:cNvSpPr>
            <a:spLocks noGrp="1"/>
          </p:cNvSpPr>
          <p:nvPr/>
        </p:nvSpPr>
        <p:spPr>
          <a:xfrm>
            <a:off x="8153400" y="232410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CDB10A3-A69A-47FD-B5B1-A602CE8A36A6}"/>
              </a:ext>
            </a:extLst>
          </p:cNvPr>
          <p:cNvSpPr>
            <a:spLocks noGrp="1"/>
          </p:cNvSpPr>
          <p:nvPr/>
        </p:nvSpPr>
        <p:spPr>
          <a:xfrm>
            <a:off x="8029575" y="26860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02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95A8228-15C6-4406-997C-124B329953A4}"/>
              </a:ext>
            </a:extLst>
          </p:cNvPr>
          <p:cNvSpPr>
            <a:spLocks noGrp="1"/>
          </p:cNvSpPr>
          <p:nvPr/>
        </p:nvSpPr>
        <p:spPr>
          <a:xfrm>
            <a:off x="8791575" y="3248025"/>
            <a:ext cx="457200" cy="457200"/>
          </a:xfrm>
          <a:prstGeom prst="rect">
            <a:avLst/>
          </a:prstGeom>
          <a:noFill/>
          <a:ln w="1143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25484292-2A0D-4E7B-B649-028DC7487CCE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66700" cy="266700"/>
          </a:xfrm>
          <a:prstGeom prst="ellipse">
            <a:avLst/>
          </a:prstGeom>
          <a:solidFill>
            <a:srgbClr val="38F2D0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1E0AA79-8E63-4BFD-9680-CD26F094B3BE}"/>
              </a:ext>
            </a:extLst>
          </p:cNvPr>
          <p:cNvSpPr>
            <a:spLocks noGrp="1"/>
          </p:cNvSpPr>
          <p:nvPr/>
        </p:nvSpPr>
        <p:spPr>
          <a:xfrm>
            <a:off x="8791575" y="37338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38F2D0"/>
                </a:solidFill>
              </a:defRPr>
            </a:pPr>
            <a:r>
              <a:rPr sz="675" b="0">
                <a:solidFill>
                  <a:srgbClr val="38F2D0"/>
                </a:solidFill>
              </a:rPr>
              <a:t>ID 03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27ACFD7-9C1F-4F73-B471-69B61EA5DF33}"/>
              </a:ext>
            </a:extLst>
          </p:cNvPr>
          <p:cNvSpPr>
            <a:spLocks noGrp="1"/>
          </p:cNvSpPr>
          <p:nvPr/>
        </p:nvSpPr>
        <p:spPr>
          <a:xfrm>
            <a:off x="9534525" y="263842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6BA9E4C9-B589-434D-BCBC-0787BBB94E1C}"/>
              </a:ext>
            </a:extLst>
          </p:cNvPr>
          <p:cNvSpPr>
            <a:spLocks noGrp="1"/>
          </p:cNvSpPr>
          <p:nvPr/>
        </p:nvSpPr>
        <p:spPr>
          <a:xfrm>
            <a:off x="9658350" y="276225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DFA7DFB-8882-4D6B-8B51-D7E101B9526A}"/>
              </a:ext>
            </a:extLst>
          </p:cNvPr>
          <p:cNvSpPr>
            <a:spLocks noGrp="1"/>
          </p:cNvSpPr>
          <p:nvPr/>
        </p:nvSpPr>
        <p:spPr>
          <a:xfrm>
            <a:off x="9534525" y="31242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04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3BE4F146-0303-424E-BA1A-AFF91AA32AC0}"/>
              </a:ext>
            </a:extLst>
          </p:cNvPr>
          <p:cNvSpPr>
            <a:spLocks noGrp="1"/>
          </p:cNvSpPr>
          <p:nvPr/>
        </p:nvSpPr>
        <p:spPr>
          <a:xfrm>
            <a:off x="10125075" y="355282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59214F5B-E12B-430F-900D-63700E5CACA5}"/>
              </a:ext>
            </a:extLst>
          </p:cNvPr>
          <p:cNvSpPr>
            <a:spLocks noGrp="1"/>
          </p:cNvSpPr>
          <p:nvPr/>
        </p:nvSpPr>
        <p:spPr>
          <a:xfrm>
            <a:off x="10248900" y="367665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029AC30C-4309-4A24-B1FD-9DE6D5F20CAF}"/>
              </a:ext>
            </a:extLst>
          </p:cNvPr>
          <p:cNvSpPr>
            <a:spLocks noGrp="1"/>
          </p:cNvSpPr>
          <p:nvPr/>
        </p:nvSpPr>
        <p:spPr>
          <a:xfrm>
            <a:off x="10125075" y="40386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05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895A56C6-CF2E-4687-9CA9-25DEC66FEC88}"/>
              </a:ext>
            </a:extLst>
          </p:cNvPr>
          <p:cNvSpPr>
            <a:spLocks noGrp="1"/>
          </p:cNvSpPr>
          <p:nvPr/>
        </p:nvSpPr>
        <p:spPr>
          <a:xfrm>
            <a:off x="7591425" y="446722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269AFB2E-1296-4460-9B21-E659C8495049}"/>
              </a:ext>
            </a:extLst>
          </p:cNvPr>
          <p:cNvSpPr>
            <a:spLocks noGrp="1"/>
          </p:cNvSpPr>
          <p:nvPr/>
        </p:nvSpPr>
        <p:spPr>
          <a:xfrm>
            <a:off x="7715250" y="459105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00AD73E7-BC04-4342-9563-1AEE1CEE9ADD}"/>
              </a:ext>
            </a:extLst>
          </p:cNvPr>
          <p:cNvSpPr>
            <a:spLocks noGrp="1"/>
          </p:cNvSpPr>
          <p:nvPr/>
        </p:nvSpPr>
        <p:spPr>
          <a:xfrm>
            <a:off x="7591425" y="49530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06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2F9744-ED93-40FF-8DA7-A024825B5140}"/>
              </a:ext>
            </a:extLst>
          </p:cNvPr>
          <p:cNvSpPr>
            <a:spLocks noGrp="1"/>
          </p:cNvSpPr>
          <p:nvPr/>
        </p:nvSpPr>
        <p:spPr>
          <a:xfrm>
            <a:off x="8543925" y="404812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1A3F697C-7AD3-448A-A658-106D4AA109BB}"/>
              </a:ext>
            </a:extLst>
          </p:cNvPr>
          <p:cNvSpPr>
            <a:spLocks noGrp="1"/>
          </p:cNvSpPr>
          <p:nvPr/>
        </p:nvSpPr>
        <p:spPr>
          <a:xfrm>
            <a:off x="8667750" y="417195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09DAA165-6E71-4E28-AC5F-098761922620}"/>
              </a:ext>
            </a:extLst>
          </p:cNvPr>
          <p:cNvSpPr>
            <a:spLocks noGrp="1"/>
          </p:cNvSpPr>
          <p:nvPr/>
        </p:nvSpPr>
        <p:spPr>
          <a:xfrm>
            <a:off x="8543925" y="453390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07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A24DDDF8-B8EB-4F7F-BBE0-024B5D6B8FDF}"/>
              </a:ext>
            </a:extLst>
          </p:cNvPr>
          <p:cNvSpPr>
            <a:spLocks noGrp="1"/>
          </p:cNvSpPr>
          <p:nvPr/>
        </p:nvSpPr>
        <p:spPr>
          <a:xfrm>
            <a:off x="9744075" y="4714875"/>
            <a:ext cx="457200" cy="457200"/>
          </a:xfrm>
          <a:prstGeom prst="rect">
            <a:avLst/>
          </a:prstGeom>
          <a:noFill/>
          <a:ln w="11430">
            <a:solidFill>
              <a:srgbClr val="3D6B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E9E2F8C3-ED84-4621-91C0-82903A4A3B69}"/>
              </a:ext>
            </a:extLst>
          </p:cNvPr>
          <p:cNvSpPr>
            <a:spLocks noGrp="1"/>
          </p:cNvSpPr>
          <p:nvPr/>
        </p:nvSpPr>
        <p:spPr>
          <a:xfrm>
            <a:off x="9867900" y="4838700"/>
            <a:ext cx="209550" cy="209550"/>
          </a:xfrm>
          <a:prstGeom prst="ellipse">
            <a:avLst/>
          </a:prstGeom>
          <a:solidFill>
            <a:srgbClr val="D8F8FF"/>
          </a:solidFill>
          <a:ln w="9525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50B4BABD-5768-487E-8AEC-C8E54A3F1CDA}"/>
              </a:ext>
            </a:extLst>
          </p:cNvPr>
          <p:cNvSpPr>
            <a:spLocks noGrp="1"/>
          </p:cNvSpPr>
          <p:nvPr/>
        </p:nvSpPr>
        <p:spPr>
          <a:xfrm>
            <a:off x="9744075" y="52006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91AFC0"/>
                </a:solidFill>
              </a:defRPr>
            </a:pPr>
            <a:r>
              <a:rPr sz="675" b="0">
                <a:solidFill>
                  <a:srgbClr val="91AFC0"/>
                </a:solidFill>
              </a:rPr>
              <a:t>ID 08</a:t>
            </a:r>
          </a:p>
        </p:txBody>
      </p:sp>
      <p:sp>
        <p:nv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E98491AE-5AB6-496F-A3AC-BE41602C0E3A}"/>
              </a:ext>
            </a:extLst>
          </p:cNvPr>
          <p:cNvSpPr>
            <a:spLocks noGrp="1"/>
          </p:cNvSpPr>
          <p:nvPr/>
        </p:nvSpPr>
        <p:spPr>
          <a:xfrm>
            <a:off x="8934450" y="3486150"/>
            <a:ext cx="1428750" cy="1047750"/>
          </a:xfrm>
          <a:prstGeom prst="line">
            <a:avLst/>
          </a:prstGeom>
          <a:ln w="3810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15988A9D-2259-4B18-81E9-8283F3F95F9D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8F2D0"/>
                </a:solidFill>
              </a:defRPr>
            </a:pPr>
            <a:r>
              <a:rPr sz="1350" b="1">
                <a:solidFill>
                  <a:srgbClr val="38F2D0"/>
                </a:solidFill>
              </a:rPr>
              <a:t>FRAME / MASK / TRACK / DECIDE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8DD7C40D-FBFF-4A33-8963-A8D9040F60C6}"/>
              </a:ext>
            </a:extLst>
          </p:cNvPr>
          <p:cNvSpPr>
            <a:spLocks noGrp="1"/>
          </p:cNvSpPr>
          <p:nvPr/>
        </p:nvSpPr>
        <p:spPr>
          <a:xfrm>
            <a:off x="6858000" y="546735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91AFC0"/>
                </a:solidFill>
              </a:defRPr>
            </a:pPr>
            <a:r>
              <a:rPr sz="975" b="1">
                <a:solidFill>
                  <a:srgbClr val="91AFC0"/>
                </a:solidFill>
              </a:rPr>
              <a:t>MOG2 + OTSU / CENTROID TRACKER</a:t>
            </a:r>
          </a:p>
        </p:txBody>
      </p:sp>
    </p:spTree>
    <p:extLst>
      <p:ext uri="{BB962C8B-B14F-4D97-AF65-F5344CB8AC3E}">
        <p14:creationId xmlns:p14="http://schemas.microsoft.com/office/powerpoint/2010/main" val="113848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D783538-753A-47A8-8B5C-8E997AF3A2D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1DEFB1-D6D0-4F8C-995D-2160265F135D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56A4B-FCA5-439F-BA62-0C86D5999547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2B9C73-8B1A-427A-AC1F-8079E6684AEB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5C5ED3-B4E4-42F8-BF39-33C09EEE56B7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12E69-2472-467F-8D94-EA3B1ED808D4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80A48D-C95A-4627-93AD-D0FEE2AD0924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785F1E-260C-4C4C-A050-C63CAE27DA2B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7EBDF5-3E3B-4A6F-A6ED-8BCB67E49926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40406E-395C-44D4-86FB-03CA55B37071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9C1C76-40A6-42EA-AC6F-BD69CF1B173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TEAM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D663839-390C-44F2-BF4C-1B785262163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Roles and contribution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7BF7FAC-55AE-481B-B91D-A43D79ECE91B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B2F136-0E33-4E63-9FB6-DF94C8545BE6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7B39574-D72C-4F90-8C16-D147D33843DA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10668000" cy="495300"/>
          </a:xfrm>
          <a:prstGeom prst="roundRect">
            <a:avLst>
              <a:gd name="adj" fmla="val 30769"/>
            </a:avLst>
          </a:prstGeom>
          <a:solidFill>
            <a:srgbClr val="1E1E1E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A6DA6A-FD4E-45C8-8C43-635BDCAD1632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97C98F-F798-4EB3-82D4-92BF3016855B}"/>
              </a:ext>
            </a:extLst>
          </p:cNvPr>
          <p:cNvSpPr>
            <a:spLocks noGrp="1"/>
          </p:cNvSpPr>
          <p:nvPr/>
        </p:nvSpPr>
        <p:spPr>
          <a:xfrm>
            <a:off x="3562350" y="2438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F9F1037-9C5A-4DA2-A454-A6293BF21BAE}"/>
              </a:ext>
            </a:extLst>
          </p:cNvPr>
          <p:cNvSpPr>
            <a:spLocks noGrp="1"/>
          </p:cNvSpPr>
          <p:nvPr/>
        </p:nvSpPr>
        <p:spPr>
          <a:xfrm>
            <a:off x="6419850" y="2438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Contribution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3DBEC1E-6D2E-4014-8539-36AC46F8C2CC}"/>
              </a:ext>
            </a:extLst>
          </p:cNvPr>
          <p:cNvSpPr>
            <a:spLocks noGrp="1"/>
          </p:cNvSpPr>
          <p:nvPr/>
        </p:nvSpPr>
        <p:spPr>
          <a:xfrm>
            <a:off x="533400" y="2800350"/>
            <a:ext cx="10668000" cy="609600"/>
          </a:xfrm>
          <a:prstGeom prst="roundRect">
            <a:avLst>
              <a:gd name="adj" fmla="val 2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B6FA430-D52C-424B-BA0C-ACE020994197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1FBFF"/>
                </a:solidFill>
              </a:defRPr>
            </a:pPr>
            <a:r>
              <a:rPr sz="1350" b="1">
                <a:solidFill>
                  <a:srgbClr val="F1FBFF"/>
                </a:solidFill>
              </a:rPr>
              <a:t>Maksim Ahafonau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CB3551-F902-44E3-9E84-55E798EDEE6E}"/>
              </a:ext>
            </a:extLst>
          </p:cNvPr>
          <p:cNvSpPr>
            <a:spLocks noGrp="1"/>
          </p:cNvSpPr>
          <p:nvPr/>
        </p:nvSpPr>
        <p:spPr>
          <a:xfrm>
            <a:off x="3562350" y="29718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1FBFF"/>
                </a:solidFill>
              </a:defRPr>
            </a:pPr>
            <a:r>
              <a:rPr sz="1350" b="0">
                <a:solidFill>
                  <a:srgbClr val="F1FBFF"/>
                </a:solidFill>
              </a:rPr>
              <a:t>Lead CV Engineer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94781E4-3821-4DE5-8A35-6B28959DEBC4}"/>
              </a:ext>
            </a:extLst>
          </p:cNvPr>
          <p:cNvSpPr>
            <a:spLocks noGrp="1"/>
          </p:cNvSpPr>
          <p:nvPr/>
        </p:nvSpPr>
        <p:spPr>
          <a:xfrm>
            <a:off x="6419850" y="29718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architecture, Detect, run.py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0A14425-17AA-4EC3-852E-9754AA442F7D}"/>
              </a:ext>
            </a:extLst>
          </p:cNvPr>
          <p:cNvSpPr>
            <a:spLocks noGrp="1"/>
          </p:cNvSpPr>
          <p:nvPr/>
        </p:nvSpPr>
        <p:spPr>
          <a:xfrm>
            <a:off x="533400" y="3409950"/>
            <a:ext cx="10668000" cy="609600"/>
          </a:xfrm>
          <a:prstGeom prst="roundRect">
            <a:avLst>
              <a:gd name="adj" fmla="val 2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93A3D15-B930-4AA3-824A-6830F0C4A4A6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1FBFF"/>
                </a:solidFill>
              </a:defRPr>
            </a:pPr>
            <a:r>
              <a:rPr sz="1350" b="1">
                <a:solidFill>
                  <a:srgbClr val="F1FBFF"/>
                </a:solidFill>
              </a:rPr>
              <a:t>Aron Shapialevich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DA9F54F-4A56-4598-BD4B-3BCB197D1CB1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1FBFF"/>
                </a:solidFill>
              </a:defRPr>
            </a:pPr>
            <a:r>
              <a:rPr sz="1350" b="0">
                <a:solidFill>
                  <a:srgbClr val="F1FBFF"/>
                </a:solidFill>
              </a:rPr>
              <a:t>Image Processing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CD75166-919C-4D37-A48E-9E52B237A888}"/>
              </a:ext>
            </a:extLst>
          </p:cNvPr>
          <p:cNvSpPr>
            <a:spLocks noGrp="1"/>
          </p:cNvSpPr>
          <p:nvPr/>
        </p:nvSpPr>
        <p:spPr>
          <a:xfrm>
            <a:off x="6419850" y="35814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Enhance, Segment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1D9D2923-6EB2-454D-9459-DB39514530B5}"/>
              </a:ext>
            </a:extLst>
          </p:cNvPr>
          <p:cNvSpPr>
            <a:spLocks noGrp="1"/>
          </p:cNvSpPr>
          <p:nvPr/>
        </p:nvSpPr>
        <p:spPr>
          <a:xfrm>
            <a:off x="533400" y="4019550"/>
            <a:ext cx="10668000" cy="609600"/>
          </a:xfrm>
          <a:prstGeom prst="roundRect">
            <a:avLst>
              <a:gd name="adj" fmla="val 2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25A958D-5014-4D0A-B69B-60410211EA90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1FBFF"/>
                </a:solidFill>
              </a:defRPr>
            </a:pPr>
            <a:r>
              <a:rPr sz="1350" b="1">
                <a:solidFill>
                  <a:srgbClr val="F1FBFF"/>
                </a:solidFill>
              </a:rPr>
              <a:t>Aleksei Karpukovich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F3F0B15-4E4B-4E97-BE2B-2485CF3BDBC2}"/>
              </a:ext>
            </a:extLst>
          </p:cNvPr>
          <p:cNvSpPr>
            <a:spLocks noGrp="1"/>
          </p:cNvSpPr>
          <p:nvPr/>
        </p:nvSpPr>
        <p:spPr>
          <a:xfrm>
            <a:off x="3562350" y="41910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1FBFF"/>
                </a:solidFill>
              </a:defRPr>
            </a:pPr>
            <a:r>
              <a:rPr sz="1350" b="0">
                <a:solidFill>
                  <a:srgbClr val="F1FBFF"/>
                </a:solidFill>
              </a:rPr>
              <a:t>Morphology &amp; Report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0C66C99-7A93-4AC8-92EE-07651E97B98D}"/>
              </a:ext>
            </a:extLst>
          </p:cNvPr>
          <p:cNvSpPr>
            <a:spLocks noGrp="1"/>
          </p:cNvSpPr>
          <p:nvPr/>
        </p:nvSpPr>
        <p:spPr>
          <a:xfrm>
            <a:off x="6419850" y="41910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Clean, Visualization, report</a:t>
            </a: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0A6F815-9B09-4703-A402-F940C3DFC6A1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10668000" cy="609600"/>
          </a:xfrm>
          <a:prstGeom prst="roundRect">
            <a:avLst>
              <a:gd name="adj" fmla="val 2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06BDFDD-84BD-432D-862D-DD60199674F4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1FBFF"/>
                </a:solidFill>
              </a:defRPr>
            </a:pPr>
            <a:r>
              <a:rPr sz="1350" b="1">
                <a:solidFill>
                  <a:srgbClr val="F1FBFF"/>
                </a:solidFill>
              </a:rPr>
              <a:t>Nick Sinazhenski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7B30786-B569-4848-84B6-F83688263053}"/>
              </a:ext>
            </a:extLst>
          </p:cNvPr>
          <p:cNvSpPr>
            <a:spLocks noGrp="1"/>
          </p:cNvSpPr>
          <p:nvPr/>
        </p:nvSpPr>
        <p:spPr>
          <a:xfrm>
            <a:off x="3562350" y="4800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1FBFF"/>
                </a:solidFill>
              </a:defRPr>
            </a:pPr>
            <a:r>
              <a:rPr sz="1350" b="0">
                <a:solidFill>
                  <a:srgbClr val="F1FBFF"/>
                </a:solidFill>
              </a:rPr>
              <a:t>Decision &amp; Tracking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FBE76FE-9FC5-4C11-A2B7-EF5BA6DD6ED0}"/>
              </a:ext>
            </a:extLst>
          </p:cNvPr>
          <p:cNvSpPr>
            <a:spLocks noGrp="1"/>
          </p:cNvSpPr>
          <p:nvPr/>
        </p:nvSpPr>
        <p:spPr>
          <a:xfrm>
            <a:off x="6419850" y="48006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Tracker, Decide, direction rose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BBEDA987-88F7-4BDB-AE3E-444BFE849E35}"/>
              </a:ext>
            </a:extLst>
          </p:cNvPr>
          <p:cNvSpPr>
            <a:spLocks noGrp="1"/>
          </p:cNvSpPr>
          <p:nvPr/>
        </p:nvSpPr>
        <p:spPr>
          <a:xfrm>
            <a:off x="533400" y="5238750"/>
            <a:ext cx="10668000" cy="609600"/>
          </a:xfrm>
          <a:prstGeom prst="roundRect">
            <a:avLst>
              <a:gd name="adj" fmla="val 2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C969E2F-02D3-42B4-B3D5-DBECEFAE691E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1FBFF"/>
                </a:solidFill>
              </a:defRPr>
            </a:pPr>
            <a:r>
              <a:rPr sz="1350" b="1">
                <a:solidFill>
                  <a:srgbClr val="F1FBFF"/>
                </a:solidFill>
              </a:rPr>
              <a:t>Ulada Malets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120C71D-65EF-447F-9E7C-38C9454FE8B4}"/>
              </a:ext>
            </a:extLst>
          </p:cNvPr>
          <p:cNvSpPr>
            <a:spLocks noGrp="1"/>
          </p:cNvSpPr>
          <p:nvPr/>
        </p:nvSpPr>
        <p:spPr>
          <a:xfrm>
            <a:off x="3562350" y="54102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1FBFF"/>
                </a:solidFill>
              </a:defRPr>
            </a:pPr>
            <a:r>
              <a:rPr sz="1350" b="0">
                <a:solidFill>
                  <a:srgbClr val="F1FBFF"/>
                </a:solidFill>
              </a:rPr>
              <a:t>Data &amp; Testing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6C80D36-8552-47EE-875B-35FC1AF4B827}"/>
              </a:ext>
            </a:extLst>
          </p:cNvPr>
          <p:cNvSpPr>
            <a:spLocks noGrp="1"/>
          </p:cNvSpPr>
          <p:nvPr/>
        </p:nvSpPr>
        <p:spPr>
          <a:xfrm>
            <a:off x="6419850" y="54102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dataset, QA, failure cases</a:t>
            </a:r>
          </a:p>
        </p:txBody>
      </p:sp>
    </p:spTree>
    <p:extLst>
      <p:ext uri="{BB962C8B-B14F-4D97-AF65-F5344CB8AC3E}">
        <p14:creationId xmlns:p14="http://schemas.microsoft.com/office/powerpoint/2010/main" val="122925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37E719-040D-4344-8148-799F185DD02F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3FCC67-1DA5-46DD-B13F-D3E0F9ED0D12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804F519-6321-4D95-8FE9-B2EB4963BD03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3F94E6-2E29-4B6D-92AF-22452482BAF9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0413BA-1C02-4366-B264-F9C5BE5392BA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B706578-822E-41CA-8ED0-5D3F524802B4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C157C1-CFE6-47C6-9D76-445809F41788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F38225D-E887-4D21-AD77-851CB926FFB1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2134F9-1CBD-48E3-AD40-BD39CD57903A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4C95A2-D1FD-41B8-84C1-CD772C8A65B0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0C86C5-1B4C-47E0-9AFB-3611C5797DB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PROBLEM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8325E2-3A9A-4839-B1DD-4167AB2BCAE9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Motivation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D5EE8FF-CE06-4D40-9BD5-34CBCFB10D94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CBA7B3-E505-4DD1-9703-98C1C269F9A9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378CF9CF-3C91-4BA9-8CAB-8C0F5920DCB9}"/>
              </a:ext>
            </a:extLst>
          </p:cNvPr>
          <p:cNvSpPr>
            <a:spLocks noGrp="1"/>
          </p:cNvSpPr>
          <p:nvPr/>
        </p:nvSpPr>
        <p:spPr>
          <a:xfrm>
            <a:off x="533400" y="2324100"/>
            <a:ext cx="4933950" cy="2667000"/>
          </a:xfrm>
          <a:prstGeom prst="roundRect">
            <a:avLst>
              <a:gd name="adj" fmla="val 5714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DE0B022-11EA-4BAD-9D50-77D5C0F27F7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1FBFF"/>
                </a:solidFill>
              </a:defRPr>
            </a:pPr>
            <a:r>
              <a:rPr sz="2100" b="1">
                <a:solidFill>
                  <a:srgbClr val="F1FBFF"/>
                </a:solidFill>
              </a:rPr>
              <a:t>Why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ACD5426-6D8E-424B-9617-8D889B8F846E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4286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visitor counting</a:t>
            </a:r>
          </a:p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people flow analysis (malls, squares, transport)</a:t>
            </a:r>
          </a:p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endParaRPr sz="1725" b="0">
              <a:solidFill>
                <a:srgbClr val="F1FBFF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62E43A4-E705-494B-88BD-E52D01D4E53F}"/>
              </a:ext>
            </a:extLst>
          </p:cNvPr>
          <p:cNvSpPr>
            <a:spLocks noGrp="1"/>
          </p:cNvSpPr>
          <p:nvPr/>
        </p:nvSpPr>
        <p:spPr>
          <a:xfrm>
            <a:off x="6343650" y="2324100"/>
            <a:ext cx="4933950" cy="2667000"/>
          </a:xfrm>
          <a:prstGeom prst="roundRect">
            <a:avLst>
              <a:gd name="adj" fmla="val 5714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4DF850-BAE2-4E62-8706-2F970158F21A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1FBFF"/>
                </a:solidFill>
              </a:defRPr>
            </a:pPr>
            <a:r>
              <a:rPr sz="2100" b="1">
                <a:solidFill>
                  <a:srgbClr val="F1FBFF"/>
                </a:solidFill>
              </a:rPr>
              <a:t>Task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95127C2-EA64-4FC1-B03F-D3F004E415D0}"/>
              </a:ext>
            </a:extLst>
          </p:cNvPr>
          <p:cNvSpPr>
            <a:spLocks noGrp="1"/>
          </p:cNvSpPr>
          <p:nvPr/>
        </p:nvSpPr>
        <p:spPr>
          <a:xfrm>
            <a:off x="6610350" y="3105150"/>
            <a:ext cx="40957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input: overhead video, static camera</a:t>
            </a:r>
          </a:p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output: total_people + dominant_direction</a:t>
            </a:r>
          </a:p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constraint: classic OpenCV only</a:t>
            </a:r>
          </a:p>
        </p:txBody>
      </p:sp>
    </p:spTree>
    <p:extLst>
      <p:ext uri="{BB962C8B-B14F-4D97-AF65-F5344CB8AC3E}">
        <p14:creationId xmlns:p14="http://schemas.microsoft.com/office/powerpoint/2010/main" val="33613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5B128AC-060B-4C48-8CE3-96F978476049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BD90504-949B-442A-803D-6F25410B6DE8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6D4554-BC28-4413-9B4B-827607EDA17B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36051F-2E54-4A6E-9E08-33F96F2A6A58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D60B5D-EE08-42D8-A5D1-84A9443201D7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0A30D9-D81B-4A31-86D5-8F38AB705A5B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FF276C-372D-47AC-BCC3-72A961215303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E22244-F087-44F3-8826-166EFF5886A9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67780B-60BF-4C18-8ED0-9958BA359E2D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686C529-E1A6-4FA0-8EBF-B6508AE5B82C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04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7EE9DA8-1152-4F29-8157-4285FACF534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ARCHITECTURE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839C892-8259-4923-A28A-D39633B7B674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Architecture piepliene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E6D876F-886C-4CB2-8592-7CD13C000AA8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47C9F26-A934-4B9C-B3AC-ABE06F0CE9BA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A3D142E-66E1-4902-89D0-5AAA307EA9AA}"/>
              </a:ext>
            </a:extLst>
          </p:cNvPr>
          <p:cNvSpPr>
            <a:spLocks noGrp="1"/>
          </p:cNvSpPr>
          <p:nvPr/>
        </p:nvSpPr>
        <p:spPr>
          <a:xfrm>
            <a:off x="666750" y="3124199"/>
            <a:ext cx="1809750" cy="895351"/>
          </a:xfrm>
          <a:prstGeom prst="roundRect">
            <a:avLst>
              <a:gd name="adj" fmla="val 10667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064A2F2-E137-4B67-8338-33F04AAA1063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1FBFF"/>
                </a:solidFill>
              </a:defRPr>
            </a:pPr>
            <a:r>
              <a:rPr sz="1875" b="1">
                <a:solidFill>
                  <a:srgbClr val="F1FBFF"/>
                </a:solidFill>
              </a:rPr>
              <a:t>Enhance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4902F22-54A8-4AA1-B40D-0F80F2E4F20F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contrast + noise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DA34098-70CC-4E40-82E8-FFDAA686E61C}"/>
              </a:ext>
            </a:extLst>
          </p:cNvPr>
          <p:cNvSpPr>
            <a:spLocks noGrp="1"/>
          </p:cNvSpPr>
          <p:nvPr/>
        </p:nvSpPr>
        <p:spPr>
          <a:xfrm>
            <a:off x="2933700" y="3124199"/>
            <a:ext cx="1809750" cy="895350"/>
          </a:xfrm>
          <a:prstGeom prst="roundRect">
            <a:avLst>
              <a:gd name="adj" fmla="val 10667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029294-AF89-4CDA-A1C5-E555B526129F}"/>
              </a:ext>
            </a:extLst>
          </p:cNvPr>
          <p:cNvSpPr>
            <a:spLocks noGrp="1"/>
          </p:cNvSpPr>
          <p:nvPr/>
        </p:nvSpPr>
        <p:spPr>
          <a:xfrm>
            <a:off x="3143250" y="3200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1FBFF"/>
                </a:solidFill>
              </a:defRPr>
            </a:pPr>
            <a:r>
              <a:rPr sz="1875" b="1">
                <a:solidFill>
                  <a:srgbClr val="F1FBFF"/>
                </a:solidFill>
              </a:rPr>
              <a:t>Segment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80171A3-5698-4D51-A35E-BE7D61A64D22}"/>
              </a:ext>
            </a:extLst>
          </p:cNvPr>
          <p:cNvSpPr>
            <a:spLocks noGrp="1"/>
          </p:cNvSpPr>
          <p:nvPr/>
        </p:nvSpPr>
        <p:spPr>
          <a:xfrm>
            <a:off x="3143250" y="3581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foreground mask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1AC5BC6E-C22D-4B0A-B51C-C071843453AD}"/>
              </a:ext>
            </a:extLst>
          </p:cNvPr>
          <p:cNvSpPr>
            <a:spLocks noGrp="1"/>
          </p:cNvSpPr>
          <p:nvPr/>
        </p:nvSpPr>
        <p:spPr>
          <a:xfrm>
            <a:off x="5257800" y="3133725"/>
            <a:ext cx="1809750" cy="895350"/>
          </a:xfrm>
          <a:prstGeom prst="roundRect">
            <a:avLst>
              <a:gd name="adj" fmla="val 10667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9283D4E-964A-4088-9585-F330E6222DC9}"/>
              </a:ext>
            </a:extLst>
          </p:cNvPr>
          <p:cNvSpPr>
            <a:spLocks noGrp="1"/>
          </p:cNvSpPr>
          <p:nvPr/>
        </p:nvSpPr>
        <p:spPr>
          <a:xfrm>
            <a:off x="5410200" y="3200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1FBFF"/>
                </a:solidFill>
              </a:defRPr>
            </a:pPr>
            <a:r>
              <a:rPr sz="1875" b="1">
                <a:solidFill>
                  <a:srgbClr val="F1FBFF"/>
                </a:solidFill>
              </a:rPr>
              <a:t>Clean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302E079-BA7C-4C64-B903-C5A577F24B67}"/>
              </a:ext>
            </a:extLst>
          </p:cNvPr>
          <p:cNvSpPr>
            <a:spLocks noGrp="1"/>
          </p:cNvSpPr>
          <p:nvPr/>
        </p:nvSpPr>
        <p:spPr>
          <a:xfrm>
            <a:off x="5410200" y="3581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morphology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A8DD2C2F-AA34-4A21-939E-FF31DF130646}"/>
              </a:ext>
            </a:extLst>
          </p:cNvPr>
          <p:cNvSpPr>
            <a:spLocks noGrp="1"/>
          </p:cNvSpPr>
          <p:nvPr/>
        </p:nvSpPr>
        <p:spPr>
          <a:xfrm>
            <a:off x="7650860" y="3133725"/>
            <a:ext cx="1581150" cy="895350"/>
          </a:xfrm>
          <a:prstGeom prst="roundRect">
            <a:avLst>
              <a:gd name="adj" fmla="val 10667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286E7DA-1DDE-4E1C-BA50-B609C598B5C3}"/>
              </a:ext>
            </a:extLst>
          </p:cNvPr>
          <p:cNvSpPr>
            <a:spLocks noGrp="1"/>
          </p:cNvSpPr>
          <p:nvPr/>
        </p:nvSpPr>
        <p:spPr>
          <a:xfrm>
            <a:off x="7677150" y="3200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1FBFF"/>
                </a:solidFill>
              </a:defRPr>
            </a:pPr>
            <a:r>
              <a:rPr sz="1875" b="1">
                <a:solidFill>
                  <a:srgbClr val="F1FBFF"/>
                </a:solidFill>
              </a:rPr>
              <a:t>Detect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9AC5614-B36B-413A-A6A9-0448025B8145}"/>
              </a:ext>
            </a:extLst>
          </p:cNvPr>
          <p:cNvSpPr>
            <a:spLocks noGrp="1"/>
          </p:cNvSpPr>
          <p:nvPr/>
        </p:nvSpPr>
        <p:spPr>
          <a:xfrm>
            <a:off x="7677150" y="3581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bbox + split</a:t>
            </a: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427233CE-57E9-4521-9BE1-7B637C8B7854}"/>
              </a:ext>
            </a:extLst>
          </p:cNvPr>
          <p:cNvSpPr>
            <a:spLocks noGrp="1"/>
          </p:cNvSpPr>
          <p:nvPr/>
        </p:nvSpPr>
        <p:spPr>
          <a:xfrm>
            <a:off x="9810750" y="3124199"/>
            <a:ext cx="1714500" cy="895350"/>
          </a:xfrm>
          <a:prstGeom prst="roundRect">
            <a:avLst>
              <a:gd name="adj" fmla="val 10667"/>
            </a:avLst>
          </a:prstGeom>
          <a:solidFill>
            <a:srgbClr val="102A2D"/>
          </a:solidFill>
          <a:ln w="1143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34D791-B747-493C-958C-0C0E4E4375F6}"/>
              </a:ext>
            </a:extLst>
          </p:cNvPr>
          <p:cNvSpPr>
            <a:spLocks noGrp="1"/>
          </p:cNvSpPr>
          <p:nvPr/>
        </p:nvSpPr>
        <p:spPr>
          <a:xfrm>
            <a:off x="9944100" y="3200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1FBFF"/>
                </a:solidFill>
              </a:defRPr>
            </a:pPr>
            <a:r>
              <a:rPr sz="1875" b="1">
                <a:solidFill>
                  <a:srgbClr val="F1FBFF"/>
                </a:solidFill>
              </a:rPr>
              <a:t>Decide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E50A9C5-C95A-48E6-9403-846394F0B343}"/>
              </a:ext>
            </a:extLst>
          </p:cNvPr>
          <p:cNvSpPr>
            <a:spLocks noGrp="1"/>
          </p:cNvSpPr>
          <p:nvPr/>
        </p:nvSpPr>
        <p:spPr>
          <a:xfrm>
            <a:off x="9944100" y="3581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count + direction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D90476-49AF-1179-8D86-63D0A7AF9608}"/>
              </a:ext>
            </a:extLst>
          </p:cNvPr>
          <p:cNvSpPr>
            <a:spLocks noGrp="1"/>
          </p:cNvSpPr>
          <p:nvPr/>
        </p:nvSpPr>
        <p:spPr>
          <a:xfrm>
            <a:off x="2414380" y="3396734"/>
            <a:ext cx="543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3600" b="1">
                <a:solidFill>
                  <a:srgbClr val="38F2D0"/>
                </a:solidFill>
              </a:defRPr>
            </a:pPr>
            <a:r>
              <a:rPr sz="1800" b="1">
                <a:solidFill>
                  <a:srgbClr val="38F2D0"/>
                </a:solidFill>
              </a:rPr>
              <a:t>→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70E40D-A38D-9A23-9445-1FB52F5E2844}"/>
              </a:ext>
            </a:extLst>
          </p:cNvPr>
          <p:cNvSpPr>
            <a:spLocks noGrp="1"/>
          </p:cNvSpPr>
          <p:nvPr/>
        </p:nvSpPr>
        <p:spPr>
          <a:xfrm>
            <a:off x="4667250" y="3396734"/>
            <a:ext cx="602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3600" b="1">
                <a:solidFill>
                  <a:srgbClr val="38F2D0"/>
                </a:solidFill>
              </a:defRPr>
            </a:pPr>
            <a:r>
              <a:rPr sz="1800" b="1">
                <a:solidFill>
                  <a:srgbClr val="38F2D0"/>
                </a:solidFill>
              </a:rPr>
              <a:t>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3F2761-0FE6-009E-AB08-38D4D1F29776}"/>
              </a:ext>
            </a:extLst>
          </p:cNvPr>
          <p:cNvSpPr>
            <a:spLocks noGrp="1"/>
          </p:cNvSpPr>
          <p:nvPr/>
        </p:nvSpPr>
        <p:spPr>
          <a:xfrm>
            <a:off x="7126052" y="3396734"/>
            <a:ext cx="482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3600" b="1">
                <a:solidFill>
                  <a:srgbClr val="38F2D0"/>
                </a:solidFill>
              </a:defRPr>
            </a:pPr>
            <a:r>
              <a:rPr sz="1800" b="1">
                <a:solidFill>
                  <a:srgbClr val="38F2D0"/>
                </a:solidFill>
              </a:rPr>
              <a:t>→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CF7743-68A3-2764-A814-C9E248F8B2F5}"/>
              </a:ext>
            </a:extLst>
          </p:cNvPr>
          <p:cNvSpPr>
            <a:spLocks noGrp="1"/>
          </p:cNvSpPr>
          <p:nvPr/>
        </p:nvSpPr>
        <p:spPr>
          <a:xfrm>
            <a:off x="9290512" y="3387208"/>
            <a:ext cx="482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3600" b="1">
                <a:solidFill>
                  <a:srgbClr val="38F2D0"/>
                </a:solidFill>
              </a:defRPr>
            </a:pPr>
            <a:r>
              <a:rPr sz="1800" b="1">
                <a:solidFill>
                  <a:srgbClr val="38F2D0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93485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CD203C-E2E4-4C20-95DD-5AA9ED024017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EDEAB1-5829-412C-9F40-16471CA468E0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6D6ED7-503D-40F3-9957-67B25C31DC0F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955C45-12FD-488A-B07F-6980B8201BFF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C4558C-6708-4998-AFB9-E82AC71B5057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58E208-301A-43DA-8AAC-3FCCAAC3B9F2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507FE-BAD4-4596-BA32-E1D81325A348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957C6F-22ED-4698-900A-5C958FDC00A0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8331200-B513-43A7-86D8-72C5952E2360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5B1332D-05C5-44A0-87CE-D6E0B0A4CF5A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05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B31E7C-6432-4856-8925-464A6647175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METHODS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AEE0F6-2196-468D-8CDE-4FE21D15FD3A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Enhance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271497-060B-47C6-9057-CDFB00564524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BD9CFC2-A089-4AD4-9BD4-B2AE5729708B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6F424D1D-91CC-4F1F-9B0A-5AC779716703}"/>
              </a:ext>
            </a:extLst>
          </p:cNvPr>
          <p:cNvSpPr>
            <a:spLocks noGrp="1"/>
          </p:cNvSpPr>
          <p:nvPr/>
        </p:nvSpPr>
        <p:spPr>
          <a:xfrm>
            <a:off x="581025" y="2343150"/>
            <a:ext cx="4762500" cy="2571750"/>
          </a:xfrm>
          <a:prstGeom prst="roundRect">
            <a:avLst>
              <a:gd name="adj" fmla="val 592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DB5CCA2-7BDE-41E7-9E59-2DC2BB42287A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1FBFF"/>
                </a:solidFill>
              </a:defRPr>
            </a:pPr>
            <a:r>
              <a:rPr sz="2100" b="1">
                <a:solidFill>
                  <a:srgbClr val="F1FBFF"/>
                </a:solidFill>
              </a:rPr>
              <a:t>Input frame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34EA29E-97EA-469C-87F7-5D0BDDD8F953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361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raw overhead camera image</a:t>
            </a:r>
          </a:p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low contrast / floor noise / shadows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55DEF2A-9BF2-4CA8-8F14-9DAE258D998E}"/>
              </a:ext>
            </a:extLst>
          </p:cNvPr>
          <p:cNvSpPr>
            <a:spLocks noGrp="1"/>
          </p:cNvSpPr>
          <p:nvPr/>
        </p:nvSpPr>
        <p:spPr>
          <a:xfrm>
            <a:off x="5829300" y="32956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600" b="1">
                <a:solidFill>
                  <a:srgbClr val="38F2D0"/>
                </a:solidFill>
              </a:defRPr>
            </a:pPr>
            <a:r>
              <a:rPr sz="3600" b="1">
                <a:solidFill>
                  <a:srgbClr val="38F2D0"/>
                </a:solidFill>
              </a:rPr>
              <a:t>→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9EE44D8E-D9C6-443A-9630-563CFE44AC2C}"/>
              </a:ext>
            </a:extLst>
          </p:cNvPr>
          <p:cNvSpPr>
            <a:spLocks noGrp="1"/>
          </p:cNvSpPr>
          <p:nvPr/>
        </p:nvSpPr>
        <p:spPr>
          <a:xfrm>
            <a:off x="6705600" y="2343150"/>
            <a:ext cx="4381500" cy="2571750"/>
          </a:xfrm>
          <a:prstGeom prst="roundRect">
            <a:avLst>
              <a:gd name="adj" fmla="val 5926"/>
            </a:avLst>
          </a:prstGeom>
          <a:solidFill>
            <a:srgbClr val="102A2D"/>
          </a:solidFill>
          <a:ln w="1143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F3B102F-B456-4E86-8B4A-C5BB6A5D4DDB}"/>
              </a:ext>
            </a:extLst>
          </p:cNvPr>
          <p:cNvSpPr>
            <a:spLocks noGrp="1"/>
          </p:cNvSpPr>
          <p:nvPr/>
        </p:nvSpPr>
        <p:spPr>
          <a:xfrm>
            <a:off x="7010400" y="2647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1FBFF"/>
                </a:solidFill>
              </a:defRPr>
            </a:pPr>
            <a:r>
              <a:rPr sz="2100" b="1">
                <a:solidFill>
                  <a:srgbClr val="F1FBFF"/>
                </a:solidFill>
              </a:rPr>
              <a:t>Enhanced frame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CB77131-2920-44E8-A203-2A357E82D8EB}"/>
              </a:ext>
            </a:extLst>
          </p:cNvPr>
          <p:cNvSpPr>
            <a:spLocks noGrp="1"/>
          </p:cNvSpPr>
          <p:nvPr/>
        </p:nvSpPr>
        <p:spPr>
          <a:xfrm>
            <a:off x="7010400" y="3219450"/>
            <a:ext cx="342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CLAHE on LAB L-channel</a:t>
            </a:r>
          </a:p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bilateral filter preserves edges</a:t>
            </a:r>
          </a:p>
          <a:p>
            <a:pPr algn="l">
              <a:buNone/>
              <a:defRPr sz="1650" b="0">
                <a:solidFill>
                  <a:srgbClr val="F1FBFF"/>
                </a:solidFill>
              </a:defRPr>
            </a:pPr>
            <a:r>
              <a:rPr sz="1650" b="0">
                <a:solidFill>
                  <a:srgbClr val="F1FBFF"/>
                </a:solidFill>
              </a:rPr>
              <a:t>- gamma correction boosts contrast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F16BC4A-F11D-4986-8F6E-F7F024F9CB89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91AFC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34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F0683CD-BBCD-4093-8286-8897492D0C3A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F1EBF4-1044-4636-8E61-310E95780946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4EDC67-8BBD-4BDD-8FEA-AB401F4157AF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F75B17-7B76-4530-89F9-10089434EEEB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6BB294-F91B-4EA0-84F6-6BE71B18C5E4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EB9BF9-280B-4096-B558-61D53CD34562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533155-820C-4DA8-BD04-120B0DC33324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6D50D9-EE9E-4071-9ABA-39BCD760350E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D8992A-CBFE-4E73-829A-C92B162543AD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9F26DF-29D6-48F9-BCB8-C3141F5D8228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B673FE2-E50F-4639-ADD8-8FFC2918E81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METHODS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EA79D52-B01D-4994-BFBC-A06E8FF07CEE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Segment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9036DD-88A9-447A-9581-993E885BFC48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6DB2DB6-C32B-4774-BF30-D96DEE9F203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2760C2-1D63-43CF-BB4F-EF03479C3B52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476250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1D168B-3E0F-4850-B3BD-258694ECC09C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38F2D0"/>
                </a:solidFill>
              </a:defRPr>
            </a:pPr>
            <a:r>
              <a:rPr sz="2550" b="1">
                <a:solidFill>
                  <a:srgbClr val="38F2D0"/>
                </a:solidFill>
              </a:rPr>
              <a:t>MOG2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C5646A8-769A-4A01-9E87-0D8B5F9A6EB6}"/>
              </a:ext>
            </a:extLst>
          </p:cNvPr>
          <p:cNvSpPr>
            <a:spLocks noGrp="1"/>
          </p:cNvSpPr>
          <p:nvPr/>
        </p:nvSpPr>
        <p:spPr>
          <a:xfrm>
            <a:off x="1066800" y="3238500"/>
            <a:ext cx="3714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background subtraction:</a:t>
            </a:r>
          </a:p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extracts foreground,</a:t>
            </a:r>
          </a:p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objects that differ from the background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1460F83-5C9B-426D-B41E-7436A5A6BAEC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38150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57E32EE-C3DE-4765-AEC6-3EB31047311D}"/>
              </a:ext>
            </a:extLst>
          </p:cNvPr>
          <p:cNvSpPr>
            <a:spLocks noGrp="1"/>
          </p:cNvSpPr>
          <p:nvPr/>
        </p:nvSpPr>
        <p:spPr>
          <a:xfrm>
            <a:off x="7010400" y="26289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38F2D0"/>
                </a:solidFill>
              </a:defRPr>
            </a:pPr>
            <a:r>
              <a:rPr sz="2550" b="1">
                <a:solidFill>
                  <a:srgbClr val="38F2D0"/>
                </a:solidFill>
              </a:rPr>
              <a:t>Otsu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93BFE7-3E52-477E-B1E8-69E25D232EE9}"/>
              </a:ext>
            </a:extLst>
          </p:cNvPr>
          <p:cNvSpPr>
            <a:spLocks noGrp="1"/>
          </p:cNvSpPr>
          <p:nvPr/>
        </p:nvSpPr>
        <p:spPr>
          <a:xfrm>
            <a:off x="7010400" y="3238500"/>
            <a:ext cx="342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threshold on background difference:</a:t>
            </a:r>
          </a:p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helps recover people</a:t>
            </a:r>
          </a:p>
          <a:p>
            <a:pPr algn="l">
              <a:buNone/>
              <a:defRPr sz="1650" b="0">
                <a:solidFill>
                  <a:srgbClr val="91AFC0"/>
                </a:solidFill>
              </a:defRPr>
            </a:pPr>
            <a:r>
              <a:rPr sz="1650" b="0">
                <a:solidFill>
                  <a:srgbClr val="91AFC0"/>
                </a:solidFill>
              </a:rPr>
              <a:t>that MOG2 can miss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6FFE029-A199-4C95-8E56-DC01CAA6BA0C}"/>
              </a:ext>
            </a:extLst>
          </p:cNvPr>
          <p:cNvSpPr>
            <a:spLocks noGrp="1"/>
          </p:cNvSpPr>
          <p:nvPr/>
        </p:nvSpPr>
        <p:spPr>
          <a:xfrm>
            <a:off x="2743200" y="54673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F1FB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37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C1AFF2-003F-42DC-B815-FA5D6900D042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F0E6851-D393-489A-9696-15D5B2178A22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20463F-F104-41C1-982D-16220F0CFE0E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344D6F-A4E4-4354-8033-AEA1D4609172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C6C517-CE89-4C13-A3D5-80D11C576A4D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0AC8CE-D3C6-4775-AAC9-128C33D32D91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B7B80E7-D470-4A65-97B6-95670311841E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73BDC20-F4AB-4FAF-9446-A4E3DFE861D7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976D9E-53C5-4EF1-AD16-AB17D89EECB1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FDED92A-4229-4BCA-8320-9F6A4888C650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07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7DD2B08-A265-4A0E-9B5F-A0A4E8A964BE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METHODS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55A4A95-E4B1-42EE-9532-4F7F0C93C1BF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Clean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40BB96-014B-4728-92DA-05C74009EDDF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D27BE0E-8D8C-4458-B7C0-BE01C6538A7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BBEC911-6C74-4980-B875-6DE8A778A04D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6191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F1FBFF"/>
                </a:solidFill>
              </a:defRPr>
            </a:pPr>
            <a:endParaRPr sz="1800" b="0" dirty="0">
              <a:solidFill>
                <a:srgbClr val="F1FBFF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9026AD6-A09A-4FB2-BF72-B04F5FB8DCD5}"/>
              </a:ext>
            </a:extLst>
          </p:cNvPr>
          <p:cNvSpPr>
            <a:spLocks noGrp="1"/>
          </p:cNvSpPr>
          <p:nvPr/>
        </p:nvSpPr>
        <p:spPr>
          <a:xfrm>
            <a:off x="7448550" y="2457450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881927-652A-4E5A-ADC9-65FBD0854F50}"/>
              </a:ext>
            </a:extLst>
          </p:cNvPr>
          <p:cNvSpPr>
            <a:spLocks noGrp="1"/>
          </p:cNvSpPr>
          <p:nvPr/>
        </p:nvSpPr>
        <p:spPr>
          <a:xfrm>
            <a:off x="7658100" y="2705100"/>
            <a:ext cx="300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38F2D0"/>
                </a:solidFill>
              </a:defRPr>
            </a:pPr>
            <a:r>
              <a:rPr sz="3450" b="1">
                <a:solidFill>
                  <a:srgbClr val="38F2D0"/>
                </a:solidFill>
              </a:rPr>
              <a:t>80-550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A87BA44-9F13-4E98-A005-A989FA920FD4}"/>
              </a:ext>
            </a:extLst>
          </p:cNvPr>
          <p:cNvSpPr>
            <a:spLocks noGrp="1"/>
          </p:cNvSpPr>
          <p:nvPr/>
        </p:nvSpPr>
        <p:spPr>
          <a:xfrm>
            <a:off x="7658100" y="335280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noisy components before clean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59C10388-8C99-450F-931E-A237FCB18D1B}"/>
              </a:ext>
            </a:extLst>
          </p:cNvPr>
          <p:cNvSpPr>
            <a:spLocks noGrp="1"/>
          </p:cNvSpPr>
          <p:nvPr/>
        </p:nvSpPr>
        <p:spPr>
          <a:xfrm>
            <a:off x="7448550" y="4057650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C404BDE-A756-49A1-B214-6DECCC03FA57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0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5-11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75653C0-4166-49B1-BEA1-F4BD066C3242}"/>
              </a:ext>
            </a:extLst>
          </p:cNvPr>
          <p:cNvSpPr>
            <a:spLocks noGrp="1"/>
          </p:cNvSpPr>
          <p:nvPr/>
        </p:nvSpPr>
        <p:spPr>
          <a:xfrm>
            <a:off x="7658100" y="495300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r>
              <a:rPr sz="1350" b="0">
                <a:solidFill>
                  <a:srgbClr val="91AFC0"/>
                </a:solidFill>
              </a:rPr>
              <a:t>stable silhouettes after clean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06FB5953-5B4D-AB74-69D1-BA48ECDB23E9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762500" cy="2952750"/>
          </a:xfrm>
          <a:prstGeom prst="roundRect">
            <a:avLst>
              <a:gd name="adj" fmla="val 592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F1FBFF"/>
                </a:solidFill>
              </a:defRPr>
            </a:pPr>
            <a:endParaRPr lang="es-ES" sz="1800" b="0" dirty="0">
              <a:solidFill>
                <a:srgbClr val="F1FB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64BE36-CE2D-D4FD-A62C-098FF353CB2D}"/>
              </a:ext>
            </a:extLst>
          </p:cNvPr>
          <p:cNvSpPr txBox="1"/>
          <p:nvPr/>
        </p:nvSpPr>
        <p:spPr>
          <a:xfrm>
            <a:off x="1044350" y="2779663"/>
            <a:ext cx="43393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0">
                <a:solidFill>
                  <a:srgbClr val="F1FBFF"/>
                </a:solidFill>
              </a:defRPr>
            </a:pPr>
            <a:r>
              <a:rPr lang="es-ES" sz="1800" b="0" dirty="0">
                <a:solidFill>
                  <a:srgbClr val="F1FBFF"/>
                </a:solidFill>
              </a:rPr>
              <a:t>- MORPH_OPEN </a:t>
            </a:r>
            <a:r>
              <a:rPr lang="es-ES" sz="1800" b="0" dirty="0" err="1">
                <a:solidFill>
                  <a:srgbClr val="F1FBFF"/>
                </a:solidFill>
              </a:rPr>
              <a:t>removes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salt</a:t>
            </a:r>
            <a:r>
              <a:rPr lang="es-ES" sz="1800" b="0" dirty="0">
                <a:solidFill>
                  <a:srgbClr val="F1FBFF"/>
                </a:solidFill>
              </a:rPr>
              <a:t>-and-</a:t>
            </a:r>
            <a:r>
              <a:rPr lang="es-ES" sz="1800" b="0" dirty="0" err="1">
                <a:solidFill>
                  <a:srgbClr val="F1FBFF"/>
                </a:solidFill>
              </a:rPr>
              <a:t>pepper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noise</a:t>
            </a:r>
            <a:endParaRPr lang="es-ES" sz="1800" b="0" dirty="0">
              <a:solidFill>
                <a:srgbClr val="F1FBFF"/>
              </a:solidFill>
            </a:endParaRPr>
          </a:p>
          <a:p>
            <a:pPr algn="l">
              <a:buNone/>
              <a:defRPr sz="1800" b="0">
                <a:solidFill>
                  <a:srgbClr val="F1FBFF"/>
                </a:solidFill>
              </a:defRPr>
            </a:pPr>
            <a:r>
              <a:rPr lang="es-ES" sz="1800" b="0" dirty="0">
                <a:solidFill>
                  <a:srgbClr val="F1FBFF"/>
                </a:solidFill>
              </a:rPr>
              <a:t>- MORPH_CLOSE </a:t>
            </a:r>
            <a:r>
              <a:rPr lang="es-ES" sz="1800" b="0" dirty="0" err="1">
                <a:solidFill>
                  <a:srgbClr val="F1FBFF"/>
                </a:solidFill>
              </a:rPr>
              <a:t>reconnects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broken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silhouettes</a:t>
            </a:r>
            <a:endParaRPr lang="es-ES" sz="1800" b="0" dirty="0">
              <a:solidFill>
                <a:srgbClr val="F1FBFF"/>
              </a:solidFill>
            </a:endParaRPr>
          </a:p>
          <a:p>
            <a:pPr algn="l">
              <a:buNone/>
              <a:defRPr sz="1800" b="0">
                <a:solidFill>
                  <a:srgbClr val="F1FBFF"/>
                </a:solidFill>
              </a:defRPr>
            </a:pPr>
            <a:r>
              <a:rPr lang="es-ES" sz="1800" b="0" dirty="0">
                <a:solidFill>
                  <a:srgbClr val="F1FBFF"/>
                </a:solidFill>
              </a:rPr>
              <a:t>- </a:t>
            </a:r>
            <a:r>
              <a:rPr lang="es-ES" sz="1800" b="0" dirty="0" err="1">
                <a:solidFill>
                  <a:srgbClr val="F1FBFF"/>
                </a:solidFill>
              </a:rPr>
              <a:t>connectedComponentsWithStats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filters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components</a:t>
            </a:r>
            <a:endParaRPr lang="es-ES" sz="1800" b="0" dirty="0">
              <a:solidFill>
                <a:srgbClr val="F1FBFF"/>
              </a:solidFill>
            </a:endParaRPr>
          </a:p>
          <a:p>
            <a:pPr algn="l">
              <a:buNone/>
              <a:defRPr sz="1800" b="0">
                <a:solidFill>
                  <a:srgbClr val="F1FBFF"/>
                </a:solidFill>
              </a:defRPr>
            </a:pPr>
            <a:r>
              <a:rPr lang="es-ES" sz="1800" b="0" dirty="0">
                <a:solidFill>
                  <a:srgbClr val="F1FBFF"/>
                </a:solidFill>
              </a:rPr>
              <a:t>- </a:t>
            </a:r>
            <a:r>
              <a:rPr lang="es-ES" sz="1800" b="0" dirty="0" err="1">
                <a:solidFill>
                  <a:srgbClr val="F1FBFF"/>
                </a:solidFill>
              </a:rPr>
              <a:t>geometry</a:t>
            </a:r>
            <a:r>
              <a:rPr lang="es-ES" sz="1800" b="0" dirty="0">
                <a:solidFill>
                  <a:srgbClr val="F1FBFF"/>
                </a:solidFill>
              </a:rPr>
              <a:t> </a:t>
            </a:r>
            <a:r>
              <a:rPr lang="es-ES" sz="1800" b="0" dirty="0" err="1">
                <a:solidFill>
                  <a:srgbClr val="F1FBFF"/>
                </a:solidFill>
              </a:rPr>
              <a:t>features</a:t>
            </a:r>
            <a:r>
              <a:rPr lang="es-ES" sz="1800" b="0" dirty="0">
                <a:solidFill>
                  <a:srgbClr val="F1FBFF"/>
                </a:solidFill>
              </a:rPr>
              <a:t>: </a:t>
            </a:r>
            <a:r>
              <a:rPr lang="es-ES" sz="1800" b="0" dirty="0" err="1">
                <a:solidFill>
                  <a:srgbClr val="F1FBFF"/>
                </a:solidFill>
              </a:rPr>
              <a:t>area</a:t>
            </a:r>
            <a:r>
              <a:rPr lang="es-ES" sz="1800" b="0" dirty="0">
                <a:solidFill>
                  <a:srgbClr val="F1FBFF"/>
                </a:solidFill>
              </a:rPr>
              <a:t>, </a:t>
            </a:r>
            <a:r>
              <a:rPr lang="es-ES" sz="1800" b="0" dirty="0" err="1">
                <a:solidFill>
                  <a:srgbClr val="F1FBFF"/>
                </a:solidFill>
              </a:rPr>
              <a:t>height</a:t>
            </a:r>
            <a:r>
              <a:rPr lang="es-ES" sz="1800" b="0" dirty="0">
                <a:solidFill>
                  <a:srgbClr val="F1FBFF"/>
                </a:solidFill>
              </a:rPr>
              <a:t>, </a:t>
            </a:r>
            <a:r>
              <a:rPr lang="es-ES" sz="1800" b="0" dirty="0" err="1">
                <a:solidFill>
                  <a:srgbClr val="F1FBFF"/>
                </a:solidFill>
              </a:rPr>
              <a:t>circularity</a:t>
            </a:r>
            <a:r>
              <a:rPr lang="es-ES" sz="1800" b="0" dirty="0">
                <a:solidFill>
                  <a:srgbClr val="F1FBFF"/>
                </a:solidFill>
              </a:rPr>
              <a:t>, </a:t>
            </a:r>
            <a:r>
              <a:rPr lang="es-ES" sz="1800" b="0" dirty="0" err="1">
                <a:solidFill>
                  <a:srgbClr val="F1FBFF"/>
                </a:solidFill>
              </a:rPr>
              <a:t>aspect</a:t>
            </a:r>
            <a:r>
              <a:rPr lang="es-ES" sz="1800" b="0" dirty="0">
                <a:solidFill>
                  <a:srgbClr val="F1FBFF"/>
                </a:solidFill>
              </a:rPr>
              <a:t>, </a:t>
            </a:r>
            <a:r>
              <a:rPr lang="es-ES" sz="1800" b="0" dirty="0" err="1">
                <a:solidFill>
                  <a:srgbClr val="F1FBFF"/>
                </a:solidFill>
              </a:rPr>
              <a:t>solidity</a:t>
            </a:r>
            <a:endParaRPr lang="es-ES" sz="1800" b="0" dirty="0">
              <a:solidFill>
                <a:srgbClr val="F1F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8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6047130-1EC4-4F68-8DF2-28F68ED750A6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252548-774D-4CA3-83A2-A141053D0801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AE833E-A254-404B-8E9E-54FC8B0D3EA4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3651CB-6ED7-4893-8B16-F6D32B0C4728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1DCA3A6-2FED-4468-8979-8D152163BD78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FA6EEC6-50A7-4101-81E4-840AE9428CC2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5571B5-DA7A-4AC3-86BE-ADB099FF95F1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8EB1664-E449-44AE-ACB5-0E51095A7195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79D515-DFA1-421D-944A-0FF545CB796E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EB17804-CC78-4DDC-87E7-3AF080ACDAAD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08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23D0C66-D02E-4812-B1BA-701B94D5CEBC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METHODS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1406ED-0F97-424C-BA87-0ED2AA7EC8A7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Visualization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787BB4-8D12-4F9E-8947-6C2A25A39BF6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1281943-2709-4059-916C-0F6F7E515D9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7CFFFDF-48F7-499C-8AB6-F17C8775C791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76250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AE48014-7C4C-4FCA-8158-D4F3B52339E4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F1FBFF"/>
                </a:solidFill>
              </a:defRPr>
            </a:pPr>
            <a:r>
              <a:rPr sz="2400" b="1">
                <a:solidFill>
                  <a:srgbClr val="F1FBFF"/>
                </a:solidFill>
              </a:rPr>
              <a:t>Overlay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6B5248-03EE-469F-BB80-ABE122A550F6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3714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bbox around each person</a:t>
            </a:r>
          </a:p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track ID</a:t>
            </a:r>
          </a:p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trajectory tail</a:t>
            </a:r>
          </a:p>
          <a:p>
            <a:pPr algn="l">
              <a:buNone/>
              <a:defRPr sz="1725" b="0">
                <a:solidFill>
                  <a:srgbClr val="F1FBFF"/>
                </a:solidFill>
              </a:defRPr>
            </a:pPr>
            <a:r>
              <a:rPr sz="1725" b="0">
                <a:solidFill>
                  <a:srgbClr val="F1FBFF"/>
                </a:solidFill>
              </a:rPr>
              <a:t>- direction arrow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4C81E97-7943-4C8F-8C53-22BD62DCE274}"/>
              </a:ext>
            </a:extLst>
          </p:cNvPr>
          <p:cNvSpPr>
            <a:spLocks noGrp="1"/>
          </p:cNvSpPr>
          <p:nvPr/>
        </p:nvSpPr>
        <p:spPr>
          <a:xfrm>
            <a:off x="990600" y="47244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endParaRPr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797541EC-9EF5-4948-ADF9-7444B10DF7D8}"/>
              </a:ext>
            </a:extLst>
          </p:cNvPr>
          <p:cNvSpPr>
            <a:spLocks noGrp="1"/>
          </p:cNvSpPr>
          <p:nvPr/>
        </p:nvSpPr>
        <p:spPr>
          <a:xfrm>
            <a:off x="6248400" y="2343151"/>
            <a:ext cx="4762500" cy="2857500"/>
          </a:xfrm>
          <a:prstGeom prst="roundRect">
            <a:avLst>
              <a:gd name="adj" fmla="val 362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AB7FA7-FA69-479F-835D-18FD82FECFED}"/>
              </a:ext>
            </a:extLst>
          </p:cNvPr>
          <p:cNvSpPr>
            <a:spLocks noGrp="1"/>
          </p:cNvSpPr>
          <p:nvPr/>
        </p:nvSpPr>
        <p:spPr>
          <a:xfrm>
            <a:off x="7334250" y="5600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91AFC0"/>
                </a:solidFill>
              </a:defRPr>
            </a:pPr>
            <a:endParaRPr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E706205-704E-4D2F-B871-FA83F1E7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358" y="2433450"/>
            <a:ext cx="292458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449A13E-D36F-4483-B9A3-7A11AFD62F08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9261A3-E12A-45E9-AF41-0DC185C40861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D9232B-3D4C-4964-8C6B-6784790AF4B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F73B30-4387-48E1-84AF-7255EAED5AF2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A51C02-4A16-408B-AD63-BF3AF48C016F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05EDB9-CCD6-4155-80CB-A9AF864AC849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2977A6-2610-406D-8BCF-9814EF23E86C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A59847-3962-4E58-8CEA-DCB07C00A6CA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1E1C4A5-8EAA-4208-99AC-70F7B4847070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23D908-EEE1-49FF-9271-79BC3C43787B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09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C6FFA1-512B-441C-918F-2E58296B47B4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METHODS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5DFC34B-F7D1-4413-851A-3BBE60756A0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Detect + Tracking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CFA6F7-013D-4955-A9B4-F66A7CCC5E30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30E1CCF-AFC8-4333-B4DE-ADDA0C5AD759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DA263B3E-B799-4E75-AFD2-86742528656A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4762500" cy="626744"/>
          </a:xfrm>
          <a:prstGeom prst="roundRect">
            <a:avLst>
              <a:gd name="adj" fmla="val 2580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3EB22D9-7885-4E66-BADB-A4DBDF1D5CB7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1FBFF"/>
                </a:solidFill>
              </a:defRPr>
            </a:pPr>
            <a:r>
              <a:rPr sz="1500" b="1">
                <a:solidFill>
                  <a:srgbClr val="F1FBFF"/>
                </a:solidFill>
              </a:rPr>
              <a:t>Components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6DA8A3-C4AE-4C1B-9603-03D0FE5D5846}"/>
              </a:ext>
            </a:extLst>
          </p:cNvPr>
          <p:cNvSpPr>
            <a:spLocks noGrp="1"/>
          </p:cNvSpPr>
          <p:nvPr/>
        </p:nvSpPr>
        <p:spPr>
          <a:xfrm>
            <a:off x="2914650" y="2400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1AFC0"/>
                </a:solidFill>
              </a:defRPr>
            </a:pPr>
            <a:r>
              <a:rPr sz="1275" b="0">
                <a:solidFill>
                  <a:srgbClr val="91AFC0"/>
                </a:solidFill>
              </a:rPr>
              <a:t>mask blobs become bbox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E08A22A4-4E73-41B3-9818-7BADF66CB93C}"/>
              </a:ext>
            </a:extLst>
          </p:cNvPr>
          <p:cNvSpPr>
            <a:spLocks noGrp="1"/>
          </p:cNvSpPr>
          <p:nvPr/>
        </p:nvSpPr>
        <p:spPr>
          <a:xfrm>
            <a:off x="533400" y="3028950"/>
            <a:ext cx="4762500" cy="647700"/>
          </a:xfrm>
          <a:prstGeom prst="roundRect">
            <a:avLst>
              <a:gd name="adj" fmla="val 2580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8213EAA-3839-4831-A13E-7A15CDB58FB1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1FBFF"/>
                </a:solidFill>
              </a:defRPr>
            </a:pPr>
            <a:r>
              <a:rPr sz="1500" b="1">
                <a:solidFill>
                  <a:srgbClr val="F1FBFF"/>
                </a:solidFill>
              </a:rPr>
              <a:t>Watershed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E86D112-C503-4E2D-818A-7E3F2DA63F8A}"/>
              </a:ext>
            </a:extLst>
          </p:cNvPr>
          <p:cNvSpPr>
            <a:spLocks noGrp="1"/>
          </p:cNvSpPr>
          <p:nvPr/>
        </p:nvSpPr>
        <p:spPr>
          <a:xfrm>
            <a:off x="2914650" y="3181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1AFC0"/>
                </a:solidFill>
              </a:defRPr>
            </a:pPr>
            <a:r>
              <a:rPr sz="1275" b="0">
                <a:solidFill>
                  <a:srgbClr val="91AFC0"/>
                </a:solidFill>
              </a:rPr>
              <a:t>merged groups are split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0E7C706F-1652-46EA-A338-4C82759B435A}"/>
              </a:ext>
            </a:extLst>
          </p:cNvPr>
          <p:cNvSpPr>
            <a:spLocks noGrp="1"/>
          </p:cNvSpPr>
          <p:nvPr/>
        </p:nvSpPr>
        <p:spPr>
          <a:xfrm>
            <a:off x="533400" y="3810000"/>
            <a:ext cx="4762500" cy="668656"/>
          </a:xfrm>
          <a:prstGeom prst="roundRect">
            <a:avLst>
              <a:gd name="adj" fmla="val 2580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41AADEA-1BE8-4D54-833A-B920031FAC90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1FBFF"/>
                </a:solidFill>
              </a:defRPr>
            </a:pPr>
            <a:r>
              <a:rPr sz="1500" b="1">
                <a:solidFill>
                  <a:srgbClr val="F1FBFF"/>
                </a:solidFill>
              </a:rPr>
              <a:t>CentroidTracker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FBCD0B9-1BC6-4F02-A96A-A88D465A5033}"/>
              </a:ext>
            </a:extLst>
          </p:cNvPr>
          <p:cNvSpPr>
            <a:spLocks noGrp="1"/>
          </p:cNvSpPr>
          <p:nvPr/>
        </p:nvSpPr>
        <p:spPr>
          <a:xfrm>
            <a:off x="2914650" y="39624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1AFC0"/>
                </a:solidFill>
              </a:defRPr>
            </a:pPr>
            <a:r>
              <a:rPr sz="1275" b="0">
                <a:solidFill>
                  <a:srgbClr val="91AFC0"/>
                </a:solidFill>
              </a:rPr>
              <a:t>IDs follow centroids and speed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CB0D5C6-437C-4F37-BEEE-F7F3E04969A9}"/>
              </a:ext>
            </a:extLst>
          </p:cNvPr>
          <p:cNvSpPr>
            <a:spLocks noGrp="1"/>
          </p:cNvSpPr>
          <p:nvPr/>
        </p:nvSpPr>
        <p:spPr>
          <a:xfrm>
            <a:off x="533400" y="4591049"/>
            <a:ext cx="4762500" cy="683895"/>
          </a:xfrm>
          <a:prstGeom prst="roundRect">
            <a:avLst>
              <a:gd name="adj" fmla="val 25806"/>
            </a:avLst>
          </a:prstGeom>
          <a:solidFill>
            <a:srgbClr val="102A2D"/>
          </a:solidFill>
          <a:ln w="1143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6B88AE0-6D51-42D4-A488-0255B91067C9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1FBFF"/>
                </a:solidFill>
              </a:defRPr>
            </a:pPr>
            <a:r>
              <a:rPr sz="1500" b="1">
                <a:solidFill>
                  <a:srgbClr val="F1FBFF"/>
                </a:solidFill>
              </a:rPr>
              <a:t>hits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CA18CE9-B500-4528-BF94-40AAAF6E5B6B}"/>
              </a:ext>
            </a:extLst>
          </p:cNvPr>
          <p:cNvSpPr>
            <a:spLocks noGrp="1"/>
          </p:cNvSpPr>
          <p:nvPr/>
        </p:nvSpPr>
        <p:spPr>
          <a:xfrm>
            <a:off x="2914650" y="4743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1AFC0"/>
                </a:solidFill>
              </a:defRPr>
            </a:pPr>
            <a:r>
              <a:rPr sz="1275" b="0">
                <a:solidFill>
                  <a:srgbClr val="91AFC0"/>
                </a:solidFill>
              </a:rPr>
              <a:t>phantom tracks are filtered out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CFB8650D-53BE-4FFF-B21E-3D5C39903E89}"/>
              </a:ext>
            </a:extLst>
          </p:cNvPr>
          <p:cNvSpPr>
            <a:spLocks noGrp="1"/>
          </p:cNvSpPr>
          <p:nvPr/>
        </p:nvSpPr>
        <p:spPr>
          <a:xfrm>
            <a:off x="6096000" y="2247900"/>
            <a:ext cx="4762500" cy="3027044"/>
          </a:xfrm>
          <a:prstGeom prst="roundRect">
            <a:avLst>
              <a:gd name="adj" fmla="val 365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AEAF77B-20EF-4447-8017-95515C19388B}"/>
              </a:ext>
            </a:extLst>
          </p:cNvPr>
          <p:cNvSpPr>
            <a:spLocks noGrp="1"/>
          </p:cNvSpPr>
          <p:nvPr/>
        </p:nvSpPr>
        <p:spPr>
          <a:xfrm>
            <a:off x="7200900" y="57150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91AFC0"/>
                </a:solidFill>
              </a:defRPr>
            </a:pPr>
            <a:endParaRPr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323C1ED-3A37-42CB-B30B-0AE2B3034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207" y="2341999"/>
            <a:ext cx="3124636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7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09E5523-7A41-4D6F-9C1C-AB120AB71AF0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7C330D-61B1-493E-9700-32C7FD98F00D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AB1419-3C00-4314-854D-0668F28DC714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4093F0-2B38-41D8-AAE6-2CA08329619F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A18BF8A-3A39-483E-8939-08EED223FFE8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36AD51-3DED-440D-A7DA-5F55D9474B50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6D675A-BD35-4F89-A5B1-4B7D3255B65F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8ED8CA-8BFC-482A-BDBB-813E450F078F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911583-817B-4608-B689-B12B76103542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B211D40-9025-46CB-9769-F4EEF4AC0D31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10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91431AA-9EF3-4419-8EDD-60C48A6BAD0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DECISION LOGIC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274CC37-8191-4EAA-8D16-325A76375454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How the final answer is made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7D8CC4-A8D6-473F-BE3B-510681A80D47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635C70D-AF85-475E-A6BB-F8EBCCC5AC0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r>
              <a:rPr sz="975" b="0">
                <a:solidFill>
                  <a:srgbClr val="91AFC0"/>
                </a:solidFill>
              </a:rPr>
              <a:t>People Counting &amp; Flow Direction  /  10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F850E1A4-F48D-4FC6-B9A9-3869928C0544}"/>
              </a:ext>
            </a:extLst>
          </p:cNvPr>
          <p:cNvSpPr>
            <a:spLocks noGrp="1"/>
          </p:cNvSpPr>
          <p:nvPr/>
        </p:nvSpPr>
        <p:spPr>
          <a:xfrm>
            <a:off x="533400" y="2247899"/>
            <a:ext cx="2914650" cy="2646045"/>
          </a:xfrm>
          <a:prstGeom prst="roundRect">
            <a:avLst>
              <a:gd name="adj" fmla="val 64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0C8336F-C6F0-413D-AEE9-5ED8CC669A38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1FBFF"/>
                </a:solidFill>
              </a:defRPr>
            </a:pPr>
            <a:r>
              <a:rPr sz="2250" b="1">
                <a:solidFill>
                  <a:srgbClr val="F1FBFF"/>
                </a:solidFill>
              </a:rPr>
              <a:t>Count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4DB1910-D286-44A6-824B-6B4EB46DEF4E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21717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91AFC0"/>
                </a:solidFill>
              </a:defRPr>
            </a:pPr>
            <a:r>
              <a:rPr sz="1500" b="0">
                <a:solidFill>
                  <a:srgbClr val="91AFC0"/>
                </a:solidFill>
              </a:rPr>
              <a:t>A person is counted if the track matches detection at least 10 times.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0EFC3EB-A577-4AD3-B582-4571703F73F8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38F2D0"/>
                </a:solidFill>
              </a:defRPr>
            </a:pPr>
            <a:r>
              <a:rPr sz="1650" b="1">
                <a:solidFill>
                  <a:srgbClr val="38F2D0"/>
                </a:solidFill>
              </a:rPr>
              <a:t>hits &gt;= 10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DD95DB6-FAB0-4F49-91D2-DD5841772D40}"/>
              </a:ext>
            </a:extLst>
          </p:cNvPr>
          <p:cNvSpPr>
            <a:spLocks noGrp="1"/>
          </p:cNvSpPr>
          <p:nvPr/>
        </p:nvSpPr>
        <p:spPr>
          <a:xfrm>
            <a:off x="3771900" y="2247900"/>
            <a:ext cx="2914650" cy="2588896"/>
          </a:xfrm>
          <a:prstGeom prst="roundRect">
            <a:avLst>
              <a:gd name="adj" fmla="val 64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C9869B-46DF-48DC-AF4E-ED92D4351B4D}"/>
              </a:ext>
            </a:extLst>
          </p:cNvPr>
          <p:cNvSpPr>
            <a:spLocks noGrp="1"/>
          </p:cNvSpPr>
          <p:nvPr/>
        </p:nvSpPr>
        <p:spPr>
          <a:xfrm>
            <a:off x="4038600" y="262890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1FBFF"/>
                </a:solidFill>
              </a:defRPr>
            </a:pPr>
            <a:r>
              <a:rPr sz="2250" b="1">
                <a:solidFill>
                  <a:srgbClr val="F1FBFF"/>
                </a:solidFill>
              </a:rPr>
              <a:t>Direction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6E9DBB6-94C5-49F7-BAEE-73BB59817458}"/>
              </a:ext>
            </a:extLst>
          </p:cNvPr>
          <p:cNvSpPr>
            <a:spLocks noGrp="1"/>
          </p:cNvSpPr>
          <p:nvPr/>
        </p:nvSpPr>
        <p:spPr>
          <a:xfrm>
            <a:off x="4038600" y="3181350"/>
            <a:ext cx="2152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91AFC0"/>
                </a:solidFill>
              </a:defRPr>
            </a:pPr>
            <a:r>
              <a:rPr sz="1500" b="0">
                <a:solidFill>
                  <a:srgbClr val="91AFC0"/>
                </a:solidFill>
              </a:rPr>
              <a:t>The vector goes from the first to the last track point, angle via atan2.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78DAEAE-296E-4D06-AD87-22BDF72EA59A}"/>
              </a:ext>
            </a:extLst>
          </p:cNvPr>
          <p:cNvSpPr>
            <a:spLocks noGrp="1"/>
          </p:cNvSpPr>
          <p:nvPr/>
        </p:nvSpPr>
        <p:spPr>
          <a:xfrm>
            <a:off x="4038600" y="43053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38F2D0"/>
                </a:solidFill>
              </a:defRPr>
            </a:pPr>
            <a:r>
              <a:rPr sz="1650" b="1">
                <a:solidFill>
                  <a:srgbClr val="38F2D0"/>
                </a:solidFill>
              </a:rPr>
              <a:t>8 sectors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F686771-A6CD-431D-A2EE-CC1D632FE4DA}"/>
              </a:ext>
            </a:extLst>
          </p:cNvPr>
          <p:cNvSpPr>
            <a:spLocks noGrp="1"/>
          </p:cNvSpPr>
          <p:nvPr/>
        </p:nvSpPr>
        <p:spPr>
          <a:xfrm>
            <a:off x="7258050" y="2247899"/>
            <a:ext cx="3819853" cy="2588896"/>
          </a:xfrm>
          <a:prstGeom prst="roundRect">
            <a:avLst>
              <a:gd name="adj" fmla="val 381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1BF9CC4-3262-4AF9-BABE-8FEAAF623361}"/>
              </a:ext>
            </a:extLst>
          </p:cNvPr>
          <p:cNvSpPr>
            <a:spLocks noGrp="1"/>
          </p:cNvSpPr>
          <p:nvPr/>
        </p:nvSpPr>
        <p:spPr>
          <a:xfrm>
            <a:off x="7962900" y="4382208"/>
            <a:ext cx="2533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8F2D0"/>
                </a:solidFill>
              </a:defRPr>
            </a:pPr>
            <a:r>
              <a:rPr sz="1650" b="1" dirty="0">
                <a:solidFill>
                  <a:srgbClr val="38F2D0"/>
                </a:solidFill>
              </a:rPr>
              <a:t>15 people / dominant SW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59A9FFC-3E87-1F8C-2B07-9A5F8A9C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51630" y="2332372"/>
            <a:ext cx="2032692" cy="20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3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AB4028-EC23-40FA-8719-53BF2FF8560C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4B8E73-EBF7-429F-B565-E160EEA4EEEB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9D70DB-9B01-4B30-AB05-2642977C9733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52A6FE-7FA2-4AA9-A9C2-53FC3A0AE53D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F8BECF-A4F0-4608-B0DE-D8245C1AFBDA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25948A-6B9E-41FA-AE45-7E8280AC8BF6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375DBDD-E371-4A84-B7F5-CCCC21720E68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082E7E-0F15-49EB-B18A-4AF78EF0DD2C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07D40F-25A1-4B94-8CB9-5EF45EA420C3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2C161-1D48-4529-8479-AFB8527C4EF8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11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51E86F-4956-4754-84B5-8355FEB3DA1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TESTING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A045476-173C-48E5-9C3A-2B4A5F29BC70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Dataset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00FC5E1-8FB3-4522-A886-1BBC6DB6D518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E5F3D58-C10C-40FE-B068-FBE1237B5CA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DFEC80E-ACDD-471B-87FF-FBACD889766E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4857750" cy="3048000"/>
          </a:xfrm>
          <a:prstGeom prst="roundRect">
            <a:avLst>
              <a:gd name="adj" fmla="val 5000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9ACA37-90B0-4CB8-B98B-7B128157AC51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F1FBFF"/>
                </a:solidFill>
              </a:defRPr>
            </a:pPr>
            <a:r>
              <a:rPr sz="2325" b="1">
                <a:solidFill>
                  <a:srgbClr val="F1FBFF"/>
                </a:solidFill>
              </a:rPr>
              <a:t>Own dataset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0CFA64-48A3-4AF7-B1F3-0944A7DF4C9A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4000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>
                <a:solidFill>
                  <a:srgbClr val="F1FBFF"/>
                </a:solidFill>
              </a:rPr>
              <a:t>- own video: video_my.MP4</a:t>
            </a:r>
          </a:p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>
                <a:solidFill>
                  <a:srgbClr val="F1FBFF"/>
                </a:solidFill>
              </a:rPr>
              <a:t>- sampled every 4th frame</a:t>
            </a:r>
          </a:p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>
                <a:solidFill>
                  <a:srgbClr val="F1FBFF"/>
                </a:solidFill>
              </a:rPr>
              <a:t>- 65 frames, resized to 1280 px</a:t>
            </a:r>
          </a:p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>
                <a:solidFill>
                  <a:srgbClr val="F1FBFF"/>
                </a:solidFill>
              </a:rPr>
              <a:t>- 6 PNG outputs per frame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C04233-0F10-4DC0-BFB2-0CA697E666C9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8F2D0"/>
                </a:solidFill>
              </a:defRPr>
            </a:pPr>
            <a:endParaRPr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EBF16F38-5D1C-4BEF-9027-70EA4D542ED8}"/>
              </a:ext>
            </a:extLst>
          </p:cNvPr>
          <p:cNvSpPr>
            <a:spLocks noGrp="1"/>
          </p:cNvSpPr>
          <p:nvPr/>
        </p:nvSpPr>
        <p:spPr>
          <a:xfrm>
            <a:off x="6286500" y="2146399"/>
            <a:ext cx="4325692" cy="3092352"/>
          </a:xfrm>
          <a:prstGeom prst="roundRect">
            <a:avLst>
              <a:gd name="adj" fmla="val 363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084ED3-F9A7-4300-8409-97779201F76D}"/>
              </a:ext>
            </a:extLst>
          </p:cNvPr>
          <p:cNvSpPr>
            <a:spLocks noGrp="1"/>
          </p:cNvSpPr>
          <p:nvPr/>
        </p:nvSpPr>
        <p:spPr>
          <a:xfrm>
            <a:off x="7334250" y="56578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91AFC0"/>
                </a:solidFill>
              </a:defRPr>
            </a:pPr>
            <a:endParaRPr/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9085" y="2211437"/>
            <a:ext cx="3180522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8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EBB5DF2-148F-4BDA-999C-2E4C4902CCFE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F3425C7-25C8-416E-BF8A-ADA8AA6EBA5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EB2150-F28D-4D17-9D87-07C950F3B508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984C2C-DFB2-4D6E-9811-4121E54B45DD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4D68366-CF84-4763-A79B-9494B0755E9B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BE153F-CE6E-4218-8A6F-5FD57E0530AF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750B7E-5A0A-49B9-B8C9-966A2D28FD2E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5453667-DECC-4F1D-9AD0-DE4F5F8BA831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121ADD-285A-4A75-8610-97CBDDCB2E3C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D1EB8A-BEF9-40C9-9CEE-BA89A9393DDB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1</a:t>
            </a:r>
            <a:r>
              <a:rPr lang="en-US" sz="900" b="1" dirty="0">
                <a:solidFill>
                  <a:srgbClr val="3DECD5"/>
                </a:solidFill>
              </a:rPr>
              <a:t>2</a:t>
            </a:r>
            <a:endParaRPr sz="900" b="1" dirty="0">
              <a:solidFill>
                <a:srgbClr val="3DECD5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E50870-BBC4-4036-A8B4-938B402A56C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TESTING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0569F0-E995-41AD-9C70-2D19EC658637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Failure analysis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E61A76A-3C4F-47EC-97B9-42522134947B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2DB2DDC-978A-4776-A9B4-14806FD492E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75E0D8F-B430-4C4C-B8DA-E34F9C7A3E15}"/>
              </a:ext>
            </a:extLst>
          </p:cNvPr>
          <p:cNvSpPr>
            <a:spLocks noGrp="1"/>
          </p:cNvSpPr>
          <p:nvPr/>
        </p:nvSpPr>
        <p:spPr>
          <a:xfrm>
            <a:off x="533400" y="2286000"/>
            <a:ext cx="4953000" cy="742950"/>
          </a:xfrm>
          <a:prstGeom prst="roundRect">
            <a:avLst>
              <a:gd name="adj" fmla="val 20513"/>
            </a:avLst>
          </a:prstGeom>
          <a:solidFill>
            <a:srgbClr val="102A2D"/>
          </a:solidFill>
          <a:ln w="1143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47A92D-4ACF-4AEC-91DE-DEEF868BA90A}"/>
              </a:ext>
            </a:extLst>
          </p:cNvPr>
          <p:cNvSpPr>
            <a:spLocks noGrp="1"/>
          </p:cNvSpPr>
          <p:nvPr/>
        </p:nvSpPr>
        <p:spPr>
          <a:xfrm>
            <a:off x="800100" y="2438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1FBFF"/>
                </a:solidFill>
              </a:defRPr>
            </a:pPr>
            <a:r>
              <a:rPr sz="1650" b="1">
                <a:solidFill>
                  <a:srgbClr val="F1FBFF"/>
                </a:solidFill>
              </a:rPr>
              <a:t>Phantom IDs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12DCE19-DA4F-48E4-AEE3-C861A11169F5}"/>
              </a:ext>
            </a:extLst>
          </p:cNvPr>
          <p:cNvSpPr>
            <a:spLocks noGrp="1"/>
          </p:cNvSpPr>
          <p:nvPr/>
        </p:nvSpPr>
        <p:spPr>
          <a:xfrm>
            <a:off x="2667000" y="24288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1AFC0"/>
                </a:solidFill>
              </a:defRPr>
            </a:pPr>
            <a:r>
              <a:rPr sz="1200" b="0">
                <a:solidFill>
                  <a:srgbClr val="91AFC0"/>
                </a:solidFill>
              </a:rPr>
              <a:t>low FPS caused extra IDs; fixed with prediction + hits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EC1E514A-3DEC-4E64-9EE7-D0029F544D98}"/>
              </a:ext>
            </a:extLst>
          </p:cNvPr>
          <p:cNvSpPr>
            <a:spLocks noGrp="1"/>
          </p:cNvSpPr>
          <p:nvPr/>
        </p:nvSpPr>
        <p:spPr>
          <a:xfrm>
            <a:off x="533400" y="3238500"/>
            <a:ext cx="4953000" cy="781050"/>
          </a:xfrm>
          <a:prstGeom prst="roundRect">
            <a:avLst>
              <a:gd name="adj" fmla="val 2051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3AA37E-B738-4CBA-A294-C2839EA5C58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1FBFF"/>
                </a:solidFill>
              </a:defRPr>
            </a:pPr>
            <a:r>
              <a:rPr sz="1650" b="1">
                <a:solidFill>
                  <a:srgbClr val="F1FBFF"/>
                </a:solidFill>
              </a:rPr>
              <a:t>Static people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705BD4A-14EA-4D1C-9E51-557875C116C3}"/>
              </a:ext>
            </a:extLst>
          </p:cNvPr>
          <p:cNvSpPr>
            <a:spLocks noGrp="1"/>
          </p:cNvSpPr>
          <p:nvPr/>
        </p:nvSpPr>
        <p:spPr>
          <a:xfrm>
            <a:off x="2667000" y="33813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1AFC0"/>
                </a:solidFill>
              </a:defRPr>
            </a:pPr>
            <a:r>
              <a:rPr sz="1200" b="0">
                <a:solidFill>
                  <a:srgbClr val="91AFC0"/>
                </a:solidFill>
              </a:rPr>
              <a:t>people standing too long may disappear: MOG2 absorbs them into background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1F1347B3-2809-4CCE-A7EE-A9EF33BB2AC0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4953000" cy="742950"/>
          </a:xfrm>
          <a:prstGeom prst="roundRect">
            <a:avLst>
              <a:gd name="adj" fmla="val 2051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FF67EBB-2D15-4873-BB79-BDD648D013D1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1FBFF"/>
                </a:solidFill>
              </a:defRPr>
            </a:pPr>
            <a:r>
              <a:rPr sz="1650" b="1">
                <a:solidFill>
                  <a:srgbClr val="F1FBFF"/>
                </a:solidFill>
              </a:rPr>
              <a:t>Crowded groups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9C6072-2D35-4495-BBD0-660E9A066DFC}"/>
              </a:ext>
            </a:extLst>
          </p:cNvPr>
          <p:cNvSpPr>
            <a:spLocks noGrp="1"/>
          </p:cNvSpPr>
          <p:nvPr/>
        </p:nvSpPr>
        <p:spPr>
          <a:xfrm>
            <a:off x="2667000" y="43338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1AFC0"/>
                </a:solidFill>
              </a:defRPr>
            </a:pPr>
            <a:r>
              <a:rPr sz="1200" b="0">
                <a:solidFill>
                  <a:srgbClr val="91AFC0"/>
                </a:solidFill>
              </a:rPr>
              <a:t>groups of 4+, shadows, and highlights can still pass filters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5574874-6109-49A8-ABCD-9459A24444FF}"/>
              </a:ext>
            </a:extLst>
          </p:cNvPr>
          <p:cNvSpPr>
            <a:spLocks noGrp="1"/>
          </p:cNvSpPr>
          <p:nvPr/>
        </p:nvSpPr>
        <p:spPr>
          <a:xfrm>
            <a:off x="800100" y="53911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38F2D0"/>
                </a:solidFill>
              </a:defRPr>
            </a:pPr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B445B13-23F2-497C-8406-AD6E2867B969}"/>
              </a:ext>
            </a:extLst>
          </p:cNvPr>
          <p:cNvSpPr>
            <a:spLocks noGrp="1"/>
          </p:cNvSpPr>
          <p:nvPr/>
        </p:nvSpPr>
        <p:spPr>
          <a:xfrm>
            <a:off x="3009900" y="5467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91AFC0"/>
                </a:solidFill>
              </a:defRPr>
            </a:pPr>
            <a:endParaRPr/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18EA8DD8-1ACC-4E81-8CA6-9E77C41BDBAE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4597400" cy="2647950"/>
          </a:xfrm>
          <a:prstGeom prst="roundRect">
            <a:avLst>
              <a:gd name="adj" fmla="val 3636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46C5CA4-A5B3-4E0B-8A26-23C5E419DA6F}"/>
              </a:ext>
            </a:extLst>
          </p:cNvPr>
          <p:cNvSpPr>
            <a:spLocks noGrp="1"/>
          </p:cNvSpPr>
          <p:nvPr/>
        </p:nvSpPr>
        <p:spPr>
          <a:xfrm>
            <a:off x="7334250" y="56578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91AFC0"/>
                </a:solidFill>
              </a:defRPr>
            </a:pPr>
            <a:endParaRPr/>
          </a:p>
        </p:txBody>
      </p:sp>
      <p:pic>
        <p:nvPicPr>
          <p:cNvPr id="57" name="Рисунок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25625" y="2310493"/>
            <a:ext cx="2719150" cy="253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2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0AEE4D9-0098-42EE-8C49-A0DE99FC7362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6965DD-30B8-415B-AE83-3AD7794AB599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9242E4-3817-4324-AEBA-A86A92014344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D9595B-AB23-4F5B-BD69-1C9352F7F0C8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273A99-8129-4EC7-A2E2-0250200BB41A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2E324C-A72F-4C80-A788-0385DF286D5A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D2CEFB-9C3F-42A0-B1E3-278D8AFC607B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B7E17E-B72D-4D3A-AB6D-BA30F5DD4DE5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FF1004-A64C-40A4-858D-0E7D7035BC8F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7B2E63-B56D-4BDC-A53B-D8F59779C36A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</a:t>
            </a:r>
            <a:r>
              <a:rPr lang="en-US" sz="900" b="1" dirty="0">
                <a:solidFill>
                  <a:srgbClr val="3DECD5"/>
                </a:solidFill>
              </a:rPr>
              <a:t>13</a:t>
            </a:r>
            <a:endParaRPr sz="900" b="1" dirty="0">
              <a:solidFill>
                <a:srgbClr val="3DECD5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85E499-8234-4FE6-A8C5-775378D09D16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LIVE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DDA9D1E-6E5C-4F46-A0AB-5B6C635389E0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LIVE DEMO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A0BC69D-78D3-4AA8-BFBA-A3693EF58CE0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9450889-8B93-4DF3-94A1-FC5DD5B194B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8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3B98D7A-926A-47C7-BEB0-9ECBD8D6E0C0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9525">
            <a:solidFill>
              <a:srgbClr val="102C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99794A-CE99-46CF-8E0A-139E4A6D52CB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0E3FAB-2B01-49B9-9B65-160FD1C6CF6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E47252-D6BB-43AE-9141-C8FD41F8F321}"/>
              </a:ext>
            </a:extLst>
          </p:cNvPr>
          <p:cNvSpPr>
            <a:spLocks noGrp="1"/>
          </p:cNvSpPr>
          <p:nvPr/>
        </p:nvSpPr>
        <p:spPr>
          <a:xfrm>
            <a:off x="11296650" y="26670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2CB969-4B71-4BDC-82B9-D3335B58FA6C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168B532-FD28-4534-B2F6-721AF666185E}"/>
              </a:ext>
            </a:extLst>
          </p:cNvPr>
          <p:cNvSpPr>
            <a:spLocks noGrp="1"/>
          </p:cNvSpPr>
          <p:nvPr/>
        </p:nvSpPr>
        <p:spPr>
          <a:xfrm>
            <a:off x="26670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A624AD-04B8-4855-8CB7-41B3FDC2119B}"/>
              </a:ext>
            </a:extLst>
          </p:cNvPr>
          <p:cNvSpPr>
            <a:spLocks noGrp="1"/>
          </p:cNvSpPr>
          <p:nvPr/>
        </p:nvSpPr>
        <p:spPr>
          <a:xfrm>
            <a:off x="26670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ECAD99B-7CD9-4B20-8419-4A62E1B0D8A2}"/>
              </a:ext>
            </a:extLst>
          </p:cNvPr>
          <p:cNvSpPr>
            <a:spLocks noGrp="1"/>
          </p:cNvSpPr>
          <p:nvPr/>
        </p:nvSpPr>
        <p:spPr>
          <a:xfrm>
            <a:off x="11296650" y="6572250"/>
            <a:ext cx="628650" cy="190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7BBBCA0-714D-4604-A89D-F1A375F7F656}"/>
              </a:ext>
            </a:extLst>
          </p:cNvPr>
          <p:cNvSpPr>
            <a:spLocks noGrp="1"/>
          </p:cNvSpPr>
          <p:nvPr/>
        </p:nvSpPr>
        <p:spPr>
          <a:xfrm>
            <a:off x="11906250" y="5962650"/>
            <a:ext cx="19050" cy="628650"/>
          </a:xfrm>
          <a:prstGeom prst="rect">
            <a:avLst/>
          </a:prstGeom>
          <a:solidFill>
            <a:srgbClr val="38F2D0"/>
          </a:solidFill>
          <a:ln w="0">
            <a:solidFill>
              <a:srgbClr val="38F2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9BD8D91-5A21-41A1-A941-1EE70F0E6228}"/>
              </a:ext>
            </a:extLst>
          </p:cNvPr>
          <p:cNvSpPr>
            <a:spLocks noGrp="1"/>
          </p:cNvSpPr>
          <p:nvPr/>
        </p:nvSpPr>
        <p:spPr>
          <a:xfrm>
            <a:off x="9810750" y="40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3DECD5"/>
                </a:solidFill>
              </a:defRPr>
            </a:pPr>
            <a:r>
              <a:rPr lang="en-US" sz="900" b="1" dirty="0">
                <a:solidFill>
                  <a:srgbClr val="3DECD5"/>
                </a:solidFill>
              </a:rPr>
              <a:t>PC</a:t>
            </a:r>
            <a:r>
              <a:rPr sz="900" b="1" dirty="0">
                <a:solidFill>
                  <a:srgbClr val="3DECD5"/>
                </a:solidFill>
              </a:rPr>
              <a:t>-FLOW / 14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8ED87C2-2B44-495A-BD9D-EA2F077649E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38F2D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FINAL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D690879-2C75-4325-9E21-5FE3E8665A93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1FBFF"/>
                </a:solidFill>
              </a:defRPr>
            </a:pPr>
            <a:r>
              <a:rPr sz="3450" b="1">
                <a:solidFill>
                  <a:srgbClr val="F1FBFF"/>
                </a:solidFill>
              </a:rPr>
              <a:t>Results and bonuses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0EB16D-0C4D-4514-A897-E5D20D941F50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11430"/>
          </a:xfrm>
          <a:prstGeom prst="rect">
            <a:avLst/>
          </a:prstGeom>
          <a:solidFill>
            <a:srgbClr val="24495A"/>
          </a:solidFill>
          <a:ln w="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0900E5-44CC-4673-A0CC-27427C9D0AF8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1AFC0"/>
                </a:solidFill>
              </a:defRPr>
            </a:pPr>
            <a:endParaRPr sz="975" b="0" dirty="0">
              <a:solidFill>
                <a:srgbClr val="91AFC0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22602BE-E9CD-487E-A1F4-C2327C59912A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F846E0-8B2B-4D94-B9BC-ED89F8698746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1FBFF"/>
                </a:solidFill>
              </a:defRPr>
            </a:pPr>
            <a:r>
              <a:rPr sz="1950" b="1">
                <a:solidFill>
                  <a:srgbClr val="F1FBFF"/>
                </a:solidFill>
              </a:rPr>
              <a:t>What we built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F6750B6-55C8-46A6-A739-FC79E7603365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26860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all 5 pipeline stages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automatic result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- 15 people + dominant SW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- 6 outputs per frame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069C06-85F9-4041-92AA-FF92E2901219}"/>
              </a:ext>
            </a:extLst>
          </p:cNvPr>
          <p:cNvSpPr>
            <a:spLocks noGrp="1"/>
          </p:cNvSpPr>
          <p:nvPr/>
        </p:nvSpPr>
        <p:spPr>
          <a:xfrm>
            <a:off x="762000" y="46291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8F2D0"/>
                </a:solidFill>
              </a:defRPr>
            </a:pPr>
            <a:r>
              <a:rPr sz="1350" b="1">
                <a:solidFill>
                  <a:srgbClr val="38F2D0"/>
                </a:solidFill>
              </a:rPr>
              <a:t>main requirements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04D55345-626F-4DF8-A3D3-131F39E5B4E5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F828F65-D149-4C8B-B8F5-6BD784C892BC}"/>
              </a:ext>
            </a:extLst>
          </p:cNvPr>
          <p:cNvSpPr>
            <a:spLocks noGrp="1"/>
          </p:cNvSpPr>
          <p:nvPr/>
        </p:nvSpPr>
        <p:spPr>
          <a:xfrm>
            <a:off x="4648200" y="25146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1FBFF"/>
                </a:solidFill>
              </a:defRPr>
            </a:pPr>
            <a:r>
              <a:rPr sz="1950" b="1">
                <a:solidFill>
                  <a:srgbClr val="F1FBFF"/>
                </a:solidFill>
              </a:rPr>
              <a:t>Bonus parts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586B670-E970-41F0-969D-8B8D71E2E2A1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 dirty="0">
                <a:solidFill>
                  <a:srgbClr val="F1FBFF"/>
                </a:solidFill>
              </a:rPr>
              <a:t>- method comparison </a:t>
            </a:r>
            <a:endParaRPr lang="en-US" sz="1500" dirty="0">
              <a:solidFill>
                <a:srgbClr val="F1FBFF"/>
              </a:solidFill>
            </a:endParaRPr>
          </a:p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 dirty="0">
                <a:solidFill>
                  <a:srgbClr val="F1FBFF"/>
                </a:solidFill>
              </a:rPr>
              <a:t>- real-time demo </a:t>
            </a:r>
          </a:p>
          <a:p>
            <a:pPr algn="l">
              <a:buNone/>
              <a:defRPr sz="1500" b="0">
                <a:solidFill>
                  <a:srgbClr val="F1FBFF"/>
                </a:solidFill>
              </a:defRPr>
            </a:pPr>
            <a:r>
              <a:rPr sz="1500" b="0" dirty="0">
                <a:solidFill>
                  <a:srgbClr val="F1FBFF"/>
                </a:solidFill>
              </a:rPr>
              <a:t>- own dataset 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9535FDC-FCFD-473E-BE36-A934E206A4A1}"/>
              </a:ext>
            </a:extLst>
          </p:cNvPr>
          <p:cNvSpPr>
            <a:spLocks noGrp="1"/>
          </p:cNvSpPr>
          <p:nvPr/>
        </p:nvSpPr>
        <p:spPr>
          <a:xfrm>
            <a:off x="4648200" y="4629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1AFC0"/>
                </a:solidFill>
              </a:defRPr>
            </a:pPr>
            <a:r>
              <a:rPr sz="1200" b="1">
                <a:solidFill>
                  <a:srgbClr val="38F2D0"/>
                </a:solidFill>
              </a:rPr>
              <a:t>bonus requirements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81CACC9-5C49-4BCC-9E59-092458628E09}"/>
              </a:ext>
            </a:extLst>
          </p:cNvPr>
          <p:cNvSpPr>
            <a:spLocks noGrp="1"/>
          </p:cNvSpPr>
          <p:nvPr/>
        </p:nvSpPr>
        <p:spPr>
          <a:xfrm>
            <a:off x="8305800" y="22479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0D1B26"/>
          </a:solidFill>
          <a:ln w="11430">
            <a:solidFill>
              <a:srgbClr val="244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2D080BA-7523-41FC-9A33-3C301862CD44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1FBFF"/>
                </a:solidFill>
              </a:defRPr>
            </a:pPr>
            <a:r>
              <a:rPr sz="1950" b="1">
                <a:solidFill>
                  <a:srgbClr val="F1FBFF"/>
                </a:solidFill>
              </a:rPr>
              <a:t>Next steps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4DBF4ED-7B53-4FF7-BDF7-440253D7C426}"/>
              </a:ext>
            </a:extLst>
          </p:cNvPr>
          <p:cNvSpPr>
            <a:spLocks noGrp="1"/>
          </p:cNvSpPr>
          <p:nvPr/>
        </p:nvSpPr>
        <p:spPr>
          <a:xfrm>
            <a:off x="8534400" y="3086100"/>
            <a:ext cx="2571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Hungarian matching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Kalman filter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adaptive background freeze</a:t>
            </a:r>
          </a:p>
          <a:p>
            <a:pPr algn="l">
              <a:buNone/>
              <a:defRPr sz="1425" b="0">
                <a:solidFill>
                  <a:srgbClr val="F1FBFF"/>
                </a:solidFill>
              </a:defRPr>
            </a:pPr>
            <a:r>
              <a:rPr sz="1425" b="0">
                <a:solidFill>
                  <a:srgbClr val="F1FBFF"/>
                </a:solidFill>
              </a:rPr>
              <a:t>- better stationary people handling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E6D1039-8249-412C-9FA5-E79485A2309C}"/>
              </a:ext>
            </a:extLst>
          </p:cNvPr>
          <p:cNvSpPr>
            <a:spLocks noGrp="1"/>
          </p:cNvSpPr>
          <p:nvPr/>
        </p:nvSpPr>
        <p:spPr>
          <a:xfrm>
            <a:off x="8534400" y="46291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8F2D0"/>
                </a:solidFill>
              </a:defRPr>
            </a:pPr>
            <a:r>
              <a:rPr sz="1350" b="1">
                <a:solidFill>
                  <a:srgbClr val="38F2D0"/>
                </a:solidFill>
              </a:rPr>
              <a:t>possible improvements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1145738-521B-4D61-B492-DE08187F56AE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1FB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8101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572</Words>
  <Application>Microsoft Office PowerPoint</Application>
  <DocSecurity>0</DocSecurity>
  <PresentationFormat>Широкоэкранный</PresentationFormat>
  <Paragraphs>167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Maksim Ahafonau</cp:lastModifiedBy>
  <cp:revision>4</cp:revision>
  <dcterms:created xsi:type="dcterms:W3CDTF">2026-06-27T16:47:30Z</dcterms:created>
  <dcterms:modified xsi:type="dcterms:W3CDTF">2026-06-27T17:23:14Z</dcterms:modified>
</cp:coreProperties>
</file>